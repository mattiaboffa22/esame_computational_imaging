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79" r:id="rId7"/>
    <p:sldId id="265" r:id="rId8"/>
    <p:sldId id="266" r:id="rId9"/>
    <p:sldId id="267" r:id="rId10"/>
    <p:sldId id="262" r:id="rId11"/>
    <p:sldId id="263" r:id="rId12"/>
    <p:sldId id="264" r:id="rId13"/>
    <p:sldId id="280" r:id="rId14"/>
    <p:sldId id="268" r:id="rId15"/>
    <p:sldId id="269" r:id="rId16"/>
    <p:sldId id="270" r:id="rId17"/>
    <p:sldId id="271" r:id="rId18"/>
    <p:sldId id="274" r:id="rId19"/>
    <p:sldId id="275" r:id="rId20"/>
    <p:sldId id="276" r:id="rId21"/>
    <p:sldId id="277" r:id="rId22"/>
    <p:sldId id="278" r:id="rId23"/>
    <p:sldId id="272" r:id="rId24"/>
    <p:sldId id="273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48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55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09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F8482-3F3C-7D5B-CAD9-8D31338B3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0F9D83-7BB0-AA34-921E-1FA7C2F91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E9A2FF-2424-9FC5-F009-5014D7DDAF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1B70F0-1AE9-7D13-5EFC-0C2F4F2062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733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2A805-D755-FE38-04F4-1C89BB148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4AEB87-5064-9BD8-E858-19BDE131A6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538D01-19FB-8D21-41A1-5B184490E7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FFD56E-0C62-408B-F622-7032064A01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6510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2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3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4.pn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5.png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6.png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7">
            <a:extLst>
              <a:ext uri="{FF2B5EF4-FFF2-40B4-BE49-F238E27FC236}">
                <a16:creationId xmlns:a16="http://schemas.microsoft.com/office/drawing/2014/main" id="{C43381AF-B511-A6A3-32B7-3D0A40F2F9E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7999"/>
                </a:lnTo>
                <a:lnTo>
                  <a:pt x="12192000" y="68579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BC2B0A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05ECD1E4-2FD5-2A62-BF2D-A5428712332B}"/>
              </a:ext>
            </a:extLst>
          </p:cNvPr>
          <p:cNvSpPr/>
          <p:nvPr/>
        </p:nvSpPr>
        <p:spPr>
          <a:xfrm>
            <a:off x="4367784" y="188595"/>
            <a:ext cx="0" cy="6408762"/>
          </a:xfrm>
          <a:custGeom>
            <a:avLst/>
            <a:gdLst/>
            <a:ahLst/>
            <a:cxnLst/>
            <a:rect l="l" t="t" r="r" b="b"/>
            <a:pathLst>
              <a:path h="6408762">
                <a:moveTo>
                  <a:pt x="0" y="0"/>
                </a:moveTo>
                <a:lnTo>
                  <a:pt x="0" y="6408762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5">
            <a:extLst>
              <a:ext uri="{FF2B5EF4-FFF2-40B4-BE49-F238E27FC236}">
                <a16:creationId xmlns:a16="http://schemas.microsoft.com/office/drawing/2014/main" id="{F5F65DC1-EED7-75A5-CC68-72A6A1BC4E22}"/>
              </a:ext>
            </a:extLst>
          </p:cNvPr>
          <p:cNvSpPr/>
          <p:nvPr/>
        </p:nvSpPr>
        <p:spPr>
          <a:xfrm>
            <a:off x="402120" y="1700783"/>
            <a:ext cx="3461639" cy="244830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4">
            <a:extLst>
              <a:ext uri="{FF2B5EF4-FFF2-40B4-BE49-F238E27FC236}">
                <a16:creationId xmlns:a16="http://schemas.microsoft.com/office/drawing/2014/main" id="{24EAD2A3-E001-DF58-1BB5-2F3E7407ACDF}"/>
              </a:ext>
            </a:extLst>
          </p:cNvPr>
          <p:cNvSpPr txBox="1"/>
          <p:nvPr/>
        </p:nvSpPr>
        <p:spPr>
          <a:xfrm>
            <a:off x="5965698" y="1013662"/>
            <a:ext cx="4521486" cy="103129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3845"/>
              </a:lnSpc>
              <a:spcBef>
                <a:spcPts val="192"/>
              </a:spcBef>
            </a:pPr>
            <a:r>
              <a:rPr lang="it-IT" sz="3600" b="1" dirty="0" err="1">
                <a:solidFill>
                  <a:schemeClr val="bg1"/>
                </a:solidFill>
              </a:rPr>
              <a:t>Computational</a:t>
            </a:r>
            <a:r>
              <a:rPr lang="it-IT" sz="3600" b="1" dirty="0">
                <a:solidFill>
                  <a:schemeClr val="bg1"/>
                </a:solidFill>
              </a:rPr>
              <a:t> Imaging for </a:t>
            </a:r>
            <a:r>
              <a:rPr lang="it-IT" sz="3600" b="1" dirty="0" err="1">
                <a:solidFill>
                  <a:schemeClr val="bg1"/>
                </a:solidFill>
              </a:rPr>
              <a:t>Medical</a:t>
            </a:r>
            <a:r>
              <a:rPr lang="it-IT" sz="3600" b="1" dirty="0">
                <a:solidFill>
                  <a:schemeClr val="bg1"/>
                </a:solidFill>
              </a:rPr>
              <a:t> Image Super-</a:t>
            </a:r>
            <a:r>
              <a:rPr lang="it-IT" sz="3600" b="1" dirty="0" err="1">
                <a:solidFill>
                  <a:schemeClr val="bg1"/>
                </a:solidFill>
              </a:rPr>
              <a:t>Resolution</a:t>
            </a:r>
            <a:endParaRPr lang="it-IT" sz="3600" b="1" spc="0" dirty="0">
              <a:solidFill>
                <a:schemeClr val="bg1"/>
              </a:solidFill>
              <a:latin typeface="Century Gothic"/>
              <a:cs typeface="Century Gothic"/>
            </a:endParaRPr>
          </a:p>
        </p:txBody>
      </p:sp>
      <p:sp>
        <p:nvSpPr>
          <p:cNvPr id="16" name="object 3">
            <a:extLst>
              <a:ext uri="{FF2B5EF4-FFF2-40B4-BE49-F238E27FC236}">
                <a16:creationId xmlns:a16="http://schemas.microsoft.com/office/drawing/2014/main" id="{AA77F6C5-2F2A-5314-C5CA-CE3782B4F944}"/>
              </a:ext>
            </a:extLst>
          </p:cNvPr>
          <p:cNvSpPr txBox="1"/>
          <p:nvPr/>
        </p:nvSpPr>
        <p:spPr>
          <a:xfrm>
            <a:off x="5558790" y="3538041"/>
            <a:ext cx="5795006" cy="114102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3845"/>
              </a:lnSpc>
              <a:spcBef>
                <a:spcPts val="192"/>
              </a:spcBef>
            </a:pPr>
            <a:r>
              <a:rPr sz="3600" b="1" spc="0" dirty="0">
                <a:solidFill>
                  <a:srgbClr val="FFFFFF"/>
                </a:solidFill>
                <a:latin typeface="Century Gothic"/>
                <a:cs typeface="Century Gothic"/>
              </a:rPr>
              <a:t>Computational </a:t>
            </a:r>
            <a:r>
              <a:rPr lang="it-IT" sz="3600" b="1" spc="0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3600" b="1" spc="0" dirty="0" err="1">
                <a:solidFill>
                  <a:srgbClr val="FFFFFF"/>
                </a:solidFill>
                <a:latin typeface="Century Gothic"/>
                <a:cs typeface="Century Gothic"/>
              </a:rPr>
              <a:t>maging</a:t>
            </a:r>
            <a:endParaRPr sz="3600" dirty="0">
              <a:latin typeface="Century Gothic"/>
              <a:cs typeface="Century Gothic"/>
            </a:endParaRPr>
          </a:p>
          <a:p>
            <a:pPr marL="1739877" marR="1774468" algn="ctr">
              <a:lnSpc>
                <a:spcPts val="4370"/>
              </a:lnSpc>
              <a:spcBef>
                <a:spcPts val="796"/>
              </a:spcBef>
            </a:pPr>
            <a:r>
              <a:rPr sz="5400" b="1" spc="0" baseline="-2265" dirty="0">
                <a:solidFill>
                  <a:srgbClr val="FFFFFF"/>
                </a:solidFill>
                <a:latin typeface="Century Gothic"/>
                <a:cs typeface="Century Gothic"/>
              </a:rPr>
              <a:t>2025-</a:t>
            </a:r>
            <a:r>
              <a:rPr lang="it-IT" sz="5400" b="1" spc="0" baseline="-2265" dirty="0">
                <a:solidFill>
                  <a:srgbClr val="FFFFFF"/>
                </a:solidFill>
                <a:latin typeface="Century Gothic"/>
                <a:cs typeface="Century Gothic"/>
              </a:rPr>
              <a:t>20</a:t>
            </a:r>
            <a:r>
              <a:rPr sz="5400" b="1" spc="0" baseline="-2265" dirty="0">
                <a:solidFill>
                  <a:srgbClr val="FFFFFF"/>
                </a:solidFill>
                <a:latin typeface="Century Gothic"/>
                <a:cs typeface="Century Gothic"/>
              </a:rPr>
              <a:t>26</a:t>
            </a:r>
            <a:endParaRPr sz="3600" dirty="0">
              <a:latin typeface="Century Gothic"/>
              <a:cs typeface="Century Gothic"/>
            </a:endParaRPr>
          </a:p>
        </p:txBody>
      </p:sp>
      <p:sp>
        <p:nvSpPr>
          <p:cNvPr id="18" name="object 2">
            <a:extLst>
              <a:ext uri="{FF2B5EF4-FFF2-40B4-BE49-F238E27FC236}">
                <a16:creationId xmlns:a16="http://schemas.microsoft.com/office/drawing/2014/main" id="{17144A8B-849C-DD48-70C2-16885B8824CF}"/>
              </a:ext>
            </a:extLst>
          </p:cNvPr>
          <p:cNvSpPr txBox="1"/>
          <p:nvPr/>
        </p:nvSpPr>
        <p:spPr>
          <a:xfrm>
            <a:off x="4446065" y="5260167"/>
            <a:ext cx="3634358" cy="101672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24866" marR="38176" algn="ctr">
              <a:lnSpc>
                <a:spcPts val="2595"/>
              </a:lnSpc>
              <a:spcBef>
                <a:spcPts val="129"/>
              </a:spcBef>
            </a:pPr>
            <a:r>
              <a:rPr lang="it-IT" sz="2400" b="1" spc="0" dirty="0">
                <a:solidFill>
                  <a:srgbClr val="FFFFFF"/>
                </a:solidFill>
                <a:latin typeface="Century Gothic"/>
                <a:cs typeface="Century Gothic"/>
              </a:rPr>
              <a:t>Professors</a:t>
            </a:r>
          </a:p>
          <a:p>
            <a:pPr marL="324866" marR="38176" algn="ctr">
              <a:lnSpc>
                <a:spcPts val="2595"/>
              </a:lnSpc>
              <a:spcBef>
                <a:spcPts val="129"/>
              </a:spcBef>
            </a:pPr>
            <a:r>
              <a:rPr sz="2400" b="1" spc="0" dirty="0">
                <a:solidFill>
                  <a:srgbClr val="FFFFFF"/>
                </a:solidFill>
                <a:latin typeface="Century Gothic"/>
                <a:cs typeface="Century Gothic"/>
              </a:rPr>
              <a:t>Elena</a:t>
            </a:r>
            <a:r>
              <a:rPr sz="2400" b="1" spc="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Century Gothic"/>
                <a:cs typeface="Century Gothic"/>
              </a:rPr>
              <a:t>Loli Piccolomin</a:t>
            </a:r>
            <a:r>
              <a:rPr sz="2400" b="1" spc="4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endParaRPr lang="it-IT" sz="2400" b="1" spc="4" dirty="0">
              <a:solidFill>
                <a:srgbClr val="FFFFFF"/>
              </a:solidFill>
              <a:latin typeface="Century Gothic"/>
              <a:cs typeface="Century Gothic"/>
            </a:endParaRPr>
          </a:p>
          <a:p>
            <a:pPr marL="324866" marR="38176" algn="ctr">
              <a:lnSpc>
                <a:spcPts val="2595"/>
              </a:lnSpc>
              <a:spcBef>
                <a:spcPts val="129"/>
              </a:spcBef>
            </a:pPr>
            <a:r>
              <a:rPr sz="2400" b="1" spc="0" dirty="0">
                <a:solidFill>
                  <a:srgbClr val="FFFFFF"/>
                </a:solidFill>
                <a:latin typeface="Century Gothic"/>
                <a:cs typeface="Century Gothic"/>
              </a:rPr>
              <a:t>Davide</a:t>
            </a:r>
            <a:r>
              <a:rPr sz="2400" b="1" spc="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Century Gothic"/>
                <a:cs typeface="Century Gothic"/>
              </a:rPr>
              <a:t>Evangelista</a:t>
            </a:r>
            <a:endParaRPr sz="2400" dirty="0">
              <a:latin typeface="Century Gothic"/>
              <a:cs typeface="Century Gothic"/>
            </a:endParaRP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397BDD4C-66FD-F7A8-82BC-C45342395931}"/>
              </a:ext>
            </a:extLst>
          </p:cNvPr>
          <p:cNvSpPr txBox="1"/>
          <p:nvPr/>
        </p:nvSpPr>
        <p:spPr>
          <a:xfrm>
            <a:off x="453076" y="5388207"/>
            <a:ext cx="34616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rgbClr val="FFFFFF"/>
                </a:solidFill>
                <a:latin typeface="Century Gothic"/>
                <a:cs typeface="Century Gothic"/>
              </a:rPr>
              <a:t>D</a:t>
            </a:r>
            <a:r>
              <a:rPr lang="it-IT" spc="-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lang="it-IT" dirty="0">
                <a:solidFill>
                  <a:srgbClr val="FFFFFF"/>
                </a:solidFill>
                <a:latin typeface="Century Gothic"/>
                <a:cs typeface="Century Gothic"/>
              </a:rPr>
              <a:t>par</a:t>
            </a:r>
            <a:r>
              <a:rPr lang="it-IT" spc="9" dirty="0">
                <a:solidFill>
                  <a:srgbClr val="FFFFFF"/>
                </a:solidFill>
                <a:latin typeface="Century Gothic"/>
                <a:cs typeface="Century Gothic"/>
              </a:rPr>
              <a:t>t</a:t>
            </a:r>
            <a:r>
              <a:rPr lang="it-IT" dirty="0">
                <a:solidFill>
                  <a:srgbClr val="FFFFFF"/>
                </a:solidFill>
                <a:latin typeface="Century Gothic"/>
                <a:cs typeface="Century Gothic"/>
              </a:rPr>
              <a:t>imento</a:t>
            </a:r>
            <a:r>
              <a:rPr lang="it-IT" spc="-3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lang="it-IT" dirty="0">
                <a:solidFill>
                  <a:srgbClr val="FFFFFF"/>
                </a:solidFill>
                <a:latin typeface="Century Gothic"/>
                <a:cs typeface="Century Gothic"/>
              </a:rPr>
              <a:t>di </a:t>
            </a:r>
            <a:r>
              <a:rPr lang="it-IT" spc="14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lang="it-IT" dirty="0">
                <a:solidFill>
                  <a:srgbClr val="FFFFFF"/>
                </a:solidFill>
                <a:latin typeface="Century Gothic"/>
                <a:cs typeface="Century Gothic"/>
              </a:rPr>
              <a:t>nf</a:t>
            </a:r>
            <a:r>
              <a:rPr lang="it-IT" spc="-4" dirty="0">
                <a:solidFill>
                  <a:srgbClr val="FFFFFF"/>
                </a:solidFill>
                <a:latin typeface="Century Gothic"/>
                <a:cs typeface="Century Gothic"/>
              </a:rPr>
              <a:t>o</a:t>
            </a:r>
            <a:r>
              <a:rPr lang="it-IT" dirty="0">
                <a:solidFill>
                  <a:srgbClr val="FFFFFF"/>
                </a:solidFill>
                <a:latin typeface="Century Gothic"/>
                <a:cs typeface="Century Gothic"/>
              </a:rPr>
              <a:t>rmatica</a:t>
            </a:r>
            <a:r>
              <a:rPr lang="it-IT" spc="-2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lang="it-IT" dirty="0">
                <a:solidFill>
                  <a:srgbClr val="FFFFFF"/>
                </a:solidFill>
                <a:latin typeface="Century Gothic"/>
                <a:cs typeface="Century Gothic"/>
              </a:rPr>
              <a:t>-</a:t>
            </a:r>
            <a:r>
              <a:rPr lang="it-IT" spc="551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lang="it-IT" dirty="0">
                <a:solidFill>
                  <a:srgbClr val="FFFFFF"/>
                </a:solidFill>
                <a:latin typeface="Century Gothic"/>
                <a:cs typeface="Century Gothic"/>
              </a:rPr>
              <a:t>Sc</a:t>
            </a:r>
            <a:r>
              <a:rPr lang="it-IT" spc="-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lang="it-IT" dirty="0">
                <a:solidFill>
                  <a:srgbClr val="FFFFFF"/>
                </a:solidFill>
                <a:latin typeface="Century Gothic"/>
                <a:cs typeface="Century Gothic"/>
              </a:rPr>
              <a:t>e</a:t>
            </a:r>
            <a:r>
              <a:rPr lang="it-IT" spc="4" dirty="0">
                <a:solidFill>
                  <a:srgbClr val="FFFFFF"/>
                </a:solidFill>
                <a:latin typeface="Century Gothic"/>
                <a:cs typeface="Century Gothic"/>
              </a:rPr>
              <a:t>n</a:t>
            </a:r>
            <a:r>
              <a:rPr lang="it-IT" dirty="0">
                <a:solidFill>
                  <a:srgbClr val="FFFFFF"/>
                </a:solidFill>
                <a:latin typeface="Century Gothic"/>
                <a:cs typeface="Century Gothic"/>
              </a:rPr>
              <a:t>za</a:t>
            </a:r>
            <a:r>
              <a:rPr lang="it-IT" spc="-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lang="it-IT" dirty="0">
                <a:solidFill>
                  <a:srgbClr val="FFFFFF"/>
                </a:solidFill>
                <a:latin typeface="Century Gothic"/>
                <a:cs typeface="Century Gothic"/>
              </a:rPr>
              <a:t>e </a:t>
            </a:r>
            <a:r>
              <a:rPr lang="it-IT" spc="14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lang="it-IT" dirty="0">
                <a:solidFill>
                  <a:srgbClr val="FFFFFF"/>
                </a:solidFill>
                <a:latin typeface="Century Gothic"/>
                <a:cs typeface="Century Gothic"/>
              </a:rPr>
              <a:t>ngegneria</a:t>
            </a:r>
            <a:r>
              <a:rPr lang="it-IT" spc="-2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lang="it-IT" spc="-44" dirty="0">
                <a:solidFill>
                  <a:srgbClr val="FFFFFF"/>
                </a:solidFill>
                <a:latin typeface="Century Gothic"/>
                <a:cs typeface="Century Gothic"/>
              </a:rPr>
              <a:t>(</a:t>
            </a:r>
            <a:r>
              <a:rPr lang="it-IT" dirty="0">
                <a:solidFill>
                  <a:srgbClr val="FFFFFF"/>
                </a:solidFill>
                <a:latin typeface="Century Gothic"/>
                <a:cs typeface="Century Gothic"/>
              </a:rPr>
              <a:t>D</a:t>
            </a:r>
            <a:r>
              <a:rPr lang="it-IT" spc="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lang="it-IT" dirty="0">
                <a:solidFill>
                  <a:srgbClr val="FFFFFF"/>
                </a:solidFill>
                <a:latin typeface="Century Gothic"/>
                <a:cs typeface="Century Gothic"/>
              </a:rPr>
              <a:t>S</a:t>
            </a:r>
            <a:r>
              <a:rPr lang="it-IT" spc="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lang="it-IT" dirty="0">
                <a:solidFill>
                  <a:srgbClr val="FFFFFF"/>
                </a:solidFill>
                <a:latin typeface="Century Gothic"/>
                <a:cs typeface="Century Gothic"/>
              </a:rPr>
              <a:t>)</a:t>
            </a:r>
            <a:endParaRPr lang="it-IT" dirty="0">
              <a:latin typeface="Century Gothic"/>
              <a:cs typeface="Century Gothic"/>
            </a:endParaRPr>
          </a:p>
          <a:p>
            <a:endParaRPr lang="it-IT" dirty="0"/>
          </a:p>
        </p:txBody>
      </p:sp>
      <p:sp>
        <p:nvSpPr>
          <p:cNvPr id="22" name="object 2">
            <a:extLst>
              <a:ext uri="{FF2B5EF4-FFF2-40B4-BE49-F238E27FC236}">
                <a16:creationId xmlns:a16="http://schemas.microsoft.com/office/drawing/2014/main" id="{F1C0B743-5B21-CDE4-94B1-ABA2BCCDCF6C}"/>
              </a:ext>
            </a:extLst>
          </p:cNvPr>
          <p:cNvSpPr txBox="1"/>
          <p:nvPr/>
        </p:nvSpPr>
        <p:spPr>
          <a:xfrm>
            <a:off x="9525000" y="5260167"/>
            <a:ext cx="2404625" cy="101672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24866" marR="38176" algn="ctr">
              <a:lnSpc>
                <a:spcPts val="2595"/>
              </a:lnSpc>
              <a:spcBef>
                <a:spcPts val="129"/>
              </a:spcBef>
            </a:pPr>
            <a:r>
              <a:rPr lang="it-IT" sz="2400" b="1" dirty="0">
                <a:solidFill>
                  <a:srgbClr val="FFFFFF"/>
                </a:solidFill>
                <a:latin typeface="Century Gothic"/>
                <a:cs typeface="Century Gothic"/>
              </a:rPr>
              <a:t>Gruppo H</a:t>
            </a:r>
            <a:endParaRPr lang="it-IT" sz="2400" b="1" spc="0" dirty="0">
              <a:solidFill>
                <a:srgbClr val="FFFFFF"/>
              </a:solidFill>
              <a:latin typeface="Century Gothic"/>
              <a:cs typeface="Century Gothic"/>
            </a:endParaRPr>
          </a:p>
          <a:p>
            <a:pPr marL="324866" marR="38176" algn="ctr">
              <a:lnSpc>
                <a:spcPts val="2595"/>
              </a:lnSpc>
              <a:spcBef>
                <a:spcPts val="129"/>
              </a:spcBef>
            </a:pPr>
            <a:r>
              <a:rPr lang="it-IT" sz="2400" b="1" dirty="0">
                <a:solidFill>
                  <a:srgbClr val="FFFFFF"/>
                </a:solidFill>
                <a:latin typeface="Century Gothic"/>
                <a:cs typeface="Century Gothic"/>
              </a:rPr>
              <a:t>Pietro Cimino</a:t>
            </a:r>
            <a:endParaRPr lang="it-IT" sz="2400" b="1" spc="4" dirty="0">
              <a:solidFill>
                <a:srgbClr val="FFFFFF"/>
              </a:solidFill>
              <a:latin typeface="Century Gothic"/>
              <a:cs typeface="Century Gothic"/>
            </a:endParaRPr>
          </a:p>
          <a:p>
            <a:pPr marL="324866" marR="38176" algn="ctr">
              <a:lnSpc>
                <a:spcPts val="2595"/>
              </a:lnSpc>
              <a:spcBef>
                <a:spcPts val="129"/>
              </a:spcBef>
            </a:pPr>
            <a:r>
              <a:rPr lang="it-IT" sz="2400" b="1" dirty="0">
                <a:solidFill>
                  <a:srgbClr val="FFFFFF"/>
                </a:solidFill>
                <a:latin typeface="Century Gothic"/>
                <a:cs typeface="Century Gothic"/>
              </a:rPr>
              <a:t>Mattia Boffa</a:t>
            </a:r>
            <a:endParaRPr sz="2400" dirty="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Description of the Project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CT image super-resolution as an inverse problem, comparing classical (model-based) and modern (learning-based) reconstruction methods under the same experimental conditions.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05763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 dataset (CT slices), grayscale images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images resized to 256×256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training / validation (85% / 15%, random_state=42 only End-to-End) / test sets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92240" y="1280160"/>
            <a:ext cx="5120640" cy="4023360"/>
          </a:xfrm>
          <a:prstGeom prst="roundRect">
            <a:avLst>
              <a:gd name="adj" fmla="val 2727"/>
            </a:avLst>
          </a:prstGeom>
          <a:solidFill>
            <a:srgbClr val="E8F1F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6766560" y="1508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Formulation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66560" y="20116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67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K(x) + 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766560" y="274320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: high-resolution ground-truth image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: downscaling operator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: additive Gaussian noise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: degraded low-resolution observation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766560" y="434340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Degradation parameters tested: scale: 2, 4   </a:t>
            </a:r>
          </a:p>
          <a:p>
            <a:pPr marL="0" indent="0">
              <a:buNone/>
            </a:pPr>
            <a:r>
              <a:rPr lang="en-US" sz="1300" i="1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level: 0.005, 0.01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H  |  Computational Imaging 2025-26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0BDACF45-A828-D3D2-C7B9-FC359B73E427}"/>
              </a:ext>
            </a:extLst>
          </p:cNvPr>
          <p:cNvSpPr/>
          <p:nvPr/>
        </p:nvSpPr>
        <p:spPr>
          <a:xfrm>
            <a:off x="10790026" y="0"/>
            <a:ext cx="1391920" cy="9361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a two-student group, three of the four required method families were implemented (variational, end-to-end, generative).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4480560"/>
          </a:xfrm>
          <a:prstGeom prst="roundRect">
            <a:avLst>
              <a:gd name="adj" fmla="val 2564"/>
            </a:avLst>
          </a:prstGeom>
          <a:solidFill>
            <a:srgbClr val="E8F1F2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457200" cy="457200"/>
          </a:xfrm>
          <a:prstGeom prst="ellipse">
            <a:avLst/>
          </a:prstGeom>
          <a:solidFill>
            <a:srgbClr val="13678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Variational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8163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p-Variation (TpV)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3291840"/>
            <a:ext cx="31089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Chambolle-Pock algorithm, unconstrained TpV regularization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 parameter λ and exponent p ∈ {0.1, 0.4}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iterations for configuration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Tx/>
              <a:buChar char="•"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over λ, p and noise level derived from the trace 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645920"/>
            <a:ext cx="3566160" cy="4480560"/>
          </a:xfrm>
          <a:prstGeom prst="roundRect">
            <a:avLst>
              <a:gd name="adj" fmla="val 2564"/>
            </a:avLst>
          </a:prstGeom>
          <a:solidFill>
            <a:srgbClr val="E8F1F2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4572000" y="1874520"/>
            <a:ext cx="457200" cy="457200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572000" y="2468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0" y="28163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U-Net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0" y="3291840"/>
            <a:ext cx="31089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Encoder-decoder with PixelShuffle upsampling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gates fuse skip connections with decoder features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formulation: predicts noise, x_hat = y − f(y)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weighted MSE + Fourier-domain loss + SSIM loss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645920"/>
            <a:ext cx="3566160" cy="4480560"/>
          </a:xfrm>
          <a:prstGeom prst="roundRect">
            <a:avLst>
              <a:gd name="adj" fmla="val 2564"/>
            </a:avLst>
          </a:prstGeom>
          <a:solidFill>
            <a:srgbClr val="E8F1F2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8366760" y="1874520"/>
            <a:ext cx="457200" cy="457200"/>
          </a:xfrm>
          <a:prstGeom prst="ellipse">
            <a:avLst/>
          </a:prstGeom>
          <a:solidFill>
            <a:srgbClr val="45C4B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8366760" y="2468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66760" y="28163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5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 + DPS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366760" y="3291840"/>
            <a:ext cx="31089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Reconstruction: optimize latent z of the frozen generator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Data-fidelity loss ||K(G(z)) - y||² / (2σ²) and 1000 steps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H  |  Computational Imaging 2025-26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object 9">
            <a:extLst>
              <a:ext uri="{FF2B5EF4-FFF2-40B4-BE49-F238E27FC236}">
                <a16:creationId xmlns:a16="http://schemas.microsoft.com/office/drawing/2014/main" id="{DC92C468-708A-B4E8-FC11-A45746A788BE}"/>
              </a:ext>
            </a:extLst>
          </p:cNvPr>
          <p:cNvSpPr/>
          <p:nvPr/>
        </p:nvSpPr>
        <p:spPr>
          <a:xfrm>
            <a:off x="10790026" y="0"/>
            <a:ext cx="1391920" cy="9361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5577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MayoDataset class: loads grayscale PNGs, resizes to 256×256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Degraded observation built with IPPy DownScaling operator + injected Gaussian noise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U-Net, the LR image is resized back to 256×256 before being fed to the network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infrastructure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593592"/>
            <a:ext cx="5577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MyTrainer class: training/validation loop, best-model saving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losses and metrics to JSON, saves training/validation loss plots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evaluation for all methods: PSNR and SSIM (IPPy.utilities.metrics)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92240" y="118872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E8F1F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676656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U-Net — Training Setup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766560" y="1828800"/>
            <a:ext cx="4663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64 → 128 → 256 → 512 (encoder/bottleneck)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Decoder: Attention Gates + PixelShuffle upsampling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0.8·MSE + 1·FourierLoss + 1·SSIMLoss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 Adam, lr = 5e-4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Scheduler: CosineAnnealingLR (T_max = 4)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epochs, batch size 32, best model saved on validation loss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setup is keeping for all models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76656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 — Training Setup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766560" y="416052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Adam: lr 3e-4 (G) / 5e-5 (critic)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epochs, batch size 32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H  |  Computational Imaging 2025-26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4213D764-853F-7BA5-CD6D-A861A26E3331}"/>
              </a:ext>
            </a:extLst>
          </p:cNvPr>
          <p:cNvSpPr/>
          <p:nvPr/>
        </p:nvSpPr>
        <p:spPr>
          <a:xfrm>
            <a:off x="10790026" y="0"/>
            <a:ext cx="1391920" cy="9361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Introduce the Experiments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27632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Super-resolution of abdominal CT slices from the Mayo low-dose CT dataset (single-channel, 256×256).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Degradation model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907792"/>
            <a:ext cx="5577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Downscaling operator K, scale factor: 2, 4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Gaussian noise, level σ ∈ {0.005, 0.01}, added after downscaling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degraded observations used consistently across all methods for a fair comparison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92240" y="123444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E8F1F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6766560" y="1417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Grid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5545487"/>
              </p:ext>
            </p:extLst>
          </p:nvPr>
        </p:nvGraphicFramePr>
        <p:xfrm>
          <a:off x="6766560" y="1920240"/>
          <a:ext cx="4663440" cy="201168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67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Values tested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67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Downscale factor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2, 4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 level σ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0.005, 0.01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TpV exponent 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0.1, 0.4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size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 × 256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766560" y="416052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Test-set images kept separate from training and validation throughout.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H  |  Computational Imaging 2025-26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4" name="object 9">
            <a:extLst>
              <a:ext uri="{FF2B5EF4-FFF2-40B4-BE49-F238E27FC236}">
                <a16:creationId xmlns:a16="http://schemas.microsoft.com/office/drawing/2014/main" id="{F7A5BD11-005A-7FA5-85EA-6A6E87D93F5C}"/>
              </a:ext>
            </a:extLst>
          </p:cNvPr>
          <p:cNvSpPr/>
          <p:nvPr/>
        </p:nvSpPr>
        <p:spPr>
          <a:xfrm>
            <a:off x="10790026" y="0"/>
            <a:ext cx="1391920" cy="9361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E9453D-EA3A-63B9-DF08-6D235AA95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D7A83FE-6564-7336-F6DE-6D6FDE63F109}"/>
              </a:ext>
            </a:extLst>
          </p:cNvPr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End-to-End (</a:t>
            </a:r>
            <a:r>
              <a:rPr lang="en-US" sz="3000" b="1" dirty="0" err="1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UNet</a:t>
            </a: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30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44CB0C0-9D53-682B-12F4-A147C4E071B2}"/>
              </a:ext>
            </a:extLst>
          </p:cNvPr>
          <p:cNvSpPr/>
          <p:nvPr/>
        </p:nvSpPr>
        <p:spPr>
          <a:xfrm>
            <a:off x="7847044" y="1026368"/>
            <a:ext cx="3765835" cy="4879910"/>
          </a:xfrm>
          <a:prstGeom prst="roundRect">
            <a:avLst>
              <a:gd name="adj" fmla="val 2449"/>
            </a:avLst>
          </a:prstGeom>
          <a:solidFill>
            <a:srgbClr val="E8F1F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79B2548-DAA5-B591-50C5-1B2477044CB1}"/>
              </a:ext>
            </a:extLst>
          </p:cNvPr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H  |  Computational Imaging 2025-26</a:t>
            </a:r>
            <a:endParaRPr lang="en-US" sz="9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CF8C4B5-C65A-96D3-C690-899559ADCDCE}"/>
              </a:ext>
            </a:extLst>
          </p:cNvPr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B4945181-9977-C021-AAFF-457F43964A94}"/>
              </a:ext>
            </a:extLst>
          </p:cNvPr>
          <p:cNvSpPr/>
          <p:nvPr/>
        </p:nvSpPr>
        <p:spPr>
          <a:xfrm>
            <a:off x="10790026" y="0"/>
            <a:ext cx="1391920" cy="9361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F97051B9-9DC9-8CFB-21D6-BA6956095D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573085"/>
            <a:ext cx="6835081" cy="3711829"/>
          </a:xfrm>
          <a:prstGeom prst="rect">
            <a:avLst/>
          </a:prstGeom>
        </p:spPr>
      </p:pic>
      <p:sp>
        <p:nvSpPr>
          <p:cNvPr id="18" name="Text 7">
            <a:extLst>
              <a:ext uri="{FF2B5EF4-FFF2-40B4-BE49-F238E27FC236}">
                <a16:creationId xmlns:a16="http://schemas.microsoft.com/office/drawing/2014/main" id="{F25FE3E0-915E-0631-47AD-BE5A70B7F6FB}"/>
              </a:ext>
            </a:extLst>
          </p:cNvPr>
          <p:cNvSpPr/>
          <p:nvPr/>
        </p:nvSpPr>
        <p:spPr>
          <a:xfrm>
            <a:off x="8144132" y="1376732"/>
            <a:ext cx="3359020" cy="41791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400"/>
              </a:spcAft>
              <a:buSzPct val="100000"/>
            </a:pPr>
            <a:r>
              <a:rPr lang="it-IT" sz="1400" b="1" dirty="0"/>
              <a:t>U-Net </a:t>
            </a:r>
            <a:r>
              <a:rPr lang="it-IT" sz="1400" b="1" dirty="0" err="1"/>
              <a:t>architecture</a:t>
            </a:r>
            <a:r>
              <a:rPr lang="it-IT" sz="1400" b="1" dirty="0"/>
              <a:t> with </a:t>
            </a:r>
            <a:r>
              <a:rPr lang="it-IT" sz="1400" b="1" dirty="0" err="1"/>
              <a:t>Attention</a:t>
            </a:r>
            <a:r>
              <a:rPr lang="it-IT" sz="1400" b="1" dirty="0"/>
              <a:t> Gates: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b="1" dirty="0" err="1"/>
              <a:t>Downsampling</a:t>
            </a:r>
            <a:r>
              <a:rPr lang="it-IT" sz="1400" b="1" dirty="0"/>
              <a:t>:</a:t>
            </a:r>
            <a:r>
              <a:rPr lang="it-IT" sz="1400" dirty="0"/>
              <a:t> The image </a:t>
            </a:r>
            <a:r>
              <a:rPr lang="it-IT" sz="1400" dirty="0" err="1"/>
              <a:t>gets</a:t>
            </a:r>
            <a:r>
              <a:rPr lang="it-IT" sz="1400" dirty="0"/>
              <a:t> </a:t>
            </a:r>
            <a:r>
              <a:rPr lang="it-IT" sz="1400" b="1" dirty="0" err="1"/>
              <a:t>smaller</a:t>
            </a:r>
            <a:r>
              <a:rPr lang="it-IT" sz="1400" dirty="0"/>
              <a:t>, </a:t>
            </a:r>
            <a:r>
              <a:rPr lang="it-IT" sz="1400" dirty="0" err="1"/>
              <a:t>but</a:t>
            </a:r>
            <a:r>
              <a:rPr lang="it-IT" sz="1400" dirty="0"/>
              <a:t> </a:t>
            </a:r>
            <a:r>
              <a:rPr lang="it-IT" sz="1400" dirty="0" err="1"/>
              <a:t>it</a:t>
            </a:r>
            <a:r>
              <a:rPr lang="it-IT" sz="1400" dirty="0"/>
              <a:t> </a:t>
            </a:r>
            <a:r>
              <a:rPr lang="it-IT" sz="1400" dirty="0" err="1"/>
              <a:t>learns</a:t>
            </a:r>
            <a:r>
              <a:rPr lang="it-IT" sz="1400" dirty="0"/>
              <a:t> </a:t>
            </a:r>
            <a:r>
              <a:rPr lang="it-IT" sz="1400" b="1" dirty="0"/>
              <a:t>more features</a:t>
            </a:r>
            <a:r>
              <a:rPr lang="it-IT" sz="1400" dirty="0"/>
              <a:t> (</a:t>
            </a:r>
            <a:r>
              <a:rPr lang="it-IT" sz="1400" dirty="0" err="1"/>
              <a:t>channels</a:t>
            </a:r>
            <a:r>
              <a:rPr lang="it-IT" sz="1400" dirty="0"/>
              <a:t>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b="1" dirty="0" err="1"/>
              <a:t>Bottleneck</a:t>
            </a:r>
            <a:r>
              <a:rPr lang="it-IT" sz="1400" b="1" dirty="0"/>
              <a:t>:</a:t>
            </a:r>
            <a:r>
              <a:rPr lang="it-IT" sz="1400" dirty="0"/>
              <a:t> The image </a:t>
            </a:r>
            <a:r>
              <a:rPr lang="it-IT" sz="1400" dirty="0" err="1"/>
              <a:t>is</a:t>
            </a:r>
            <a:r>
              <a:rPr lang="it-IT" sz="1400" dirty="0"/>
              <a:t> </a:t>
            </a:r>
            <a:r>
              <a:rPr lang="it-IT" sz="1400" dirty="0" err="1"/>
              <a:t>at</a:t>
            </a:r>
            <a:r>
              <a:rPr lang="it-IT" sz="1400" dirty="0"/>
              <a:t> </a:t>
            </a:r>
            <a:r>
              <a:rPr lang="it-IT" sz="1400" dirty="0" err="1"/>
              <a:t>its</a:t>
            </a:r>
            <a:r>
              <a:rPr lang="it-IT" sz="1400" dirty="0"/>
              <a:t> </a:t>
            </a:r>
            <a:r>
              <a:rPr lang="it-IT" sz="1400" b="1" dirty="0" err="1"/>
              <a:t>smallest</a:t>
            </a:r>
            <a:r>
              <a:rPr lang="it-IT" sz="1400" dirty="0"/>
              <a:t> size </a:t>
            </a:r>
            <a:r>
              <a:rPr lang="it-IT" sz="1400" dirty="0" err="1"/>
              <a:t>here</a:t>
            </a:r>
            <a:r>
              <a:rPr lang="it-IT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b="1" dirty="0" err="1"/>
              <a:t>Upsampling</a:t>
            </a:r>
            <a:r>
              <a:rPr lang="it-IT" sz="1400" b="1" dirty="0"/>
              <a:t>:</a:t>
            </a:r>
            <a:r>
              <a:rPr lang="it-IT" sz="1400" dirty="0"/>
              <a:t> The opposite of </a:t>
            </a:r>
            <a:r>
              <a:rPr lang="it-IT" sz="1400" dirty="0" err="1"/>
              <a:t>downsampling</a:t>
            </a:r>
            <a:r>
              <a:rPr lang="it-IT" sz="1400" dirty="0"/>
              <a:t>. The image </a:t>
            </a:r>
            <a:r>
              <a:rPr lang="it-IT" sz="1400" dirty="0" err="1"/>
              <a:t>gets</a:t>
            </a:r>
            <a:r>
              <a:rPr lang="it-IT" sz="1400" dirty="0"/>
              <a:t> </a:t>
            </a:r>
            <a:r>
              <a:rPr lang="it-IT" sz="1400" b="1" dirty="0" err="1"/>
              <a:t>bigger</a:t>
            </a:r>
            <a:r>
              <a:rPr lang="it-IT" sz="1400" dirty="0"/>
              <a:t> </a:t>
            </a:r>
            <a:r>
              <a:rPr lang="it-IT" sz="1400" dirty="0" err="1"/>
              <a:t>again</a:t>
            </a:r>
            <a:r>
              <a:rPr lang="it-IT" sz="1400" dirty="0"/>
              <a:t> to build the </a:t>
            </a:r>
            <a:r>
              <a:rPr lang="it-IT" sz="1400" dirty="0" err="1"/>
              <a:t>final</a:t>
            </a:r>
            <a:r>
              <a:rPr lang="it-IT" sz="1400" dirty="0"/>
              <a:t> </a:t>
            </a:r>
            <a:r>
              <a:rPr lang="it-IT" sz="1400" dirty="0" err="1"/>
              <a:t>result</a:t>
            </a:r>
            <a:r>
              <a:rPr lang="it-IT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b="1" dirty="0"/>
              <a:t>Skip Connections:</a:t>
            </a:r>
            <a:r>
              <a:rPr lang="it-IT" sz="1400" dirty="0"/>
              <a:t> </a:t>
            </a:r>
            <a:r>
              <a:rPr lang="it-IT" sz="1400" dirty="0" err="1"/>
              <a:t>These</a:t>
            </a:r>
            <a:r>
              <a:rPr lang="it-IT" sz="1400" dirty="0"/>
              <a:t> act like a </a:t>
            </a:r>
            <a:r>
              <a:rPr lang="it-IT" sz="1400" b="1" dirty="0"/>
              <a:t>bridge</a:t>
            </a:r>
            <a:r>
              <a:rPr lang="it-IT" sz="1400" dirty="0"/>
              <a:t>. </a:t>
            </a:r>
            <a:r>
              <a:rPr lang="it-IT" sz="1400" dirty="0" err="1"/>
              <a:t>They</a:t>
            </a:r>
            <a:r>
              <a:rPr lang="it-IT" sz="1400" dirty="0"/>
              <a:t> copy </a:t>
            </a:r>
            <a:r>
              <a:rPr lang="it-IT" sz="1400" dirty="0" err="1"/>
              <a:t>detailed</a:t>
            </a:r>
            <a:r>
              <a:rPr lang="it-IT" sz="1400" dirty="0"/>
              <a:t> information from the first part to the last part.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b="1" dirty="0" err="1"/>
              <a:t>Attention</a:t>
            </a:r>
            <a:r>
              <a:rPr lang="it-IT" sz="1400" b="1" dirty="0"/>
              <a:t> Gates:</a:t>
            </a:r>
            <a:r>
              <a:rPr lang="it-IT" sz="1400" dirty="0"/>
              <a:t> A </a:t>
            </a:r>
            <a:r>
              <a:rPr lang="it-IT" sz="1400" b="1" dirty="0"/>
              <a:t>smart filter</a:t>
            </a:r>
            <a:r>
              <a:rPr lang="it-IT" sz="1400" dirty="0"/>
              <a:t> for the bridge. </a:t>
            </a:r>
            <a:r>
              <a:rPr lang="it-IT" sz="1400" dirty="0" err="1"/>
              <a:t>It</a:t>
            </a:r>
            <a:r>
              <a:rPr lang="it-IT" sz="1400" dirty="0"/>
              <a:t> highlights the good information and </a:t>
            </a:r>
            <a:r>
              <a:rPr lang="it-IT" sz="1400" dirty="0" err="1"/>
              <a:t>ignores</a:t>
            </a:r>
            <a:r>
              <a:rPr lang="it-IT" sz="1400" dirty="0"/>
              <a:t> the </a:t>
            </a:r>
            <a:r>
              <a:rPr lang="it-IT" sz="1400" dirty="0" err="1"/>
              <a:t>useless</a:t>
            </a:r>
            <a:r>
              <a:rPr lang="it-IT" sz="1400" dirty="0"/>
              <a:t> parts.</a:t>
            </a:r>
            <a:br>
              <a:rPr lang="it-IT" sz="1400" dirty="0"/>
            </a:br>
            <a:endParaRPr lang="it-IT" sz="1400" dirty="0"/>
          </a:p>
          <a:p>
            <a:pPr>
              <a:spcAft>
                <a:spcPts val="400"/>
              </a:spcAft>
              <a:buSzPct val="100000"/>
            </a:pPr>
            <a:r>
              <a:rPr lang="it-IT" sz="1400" dirty="0"/>
              <a:t>The network </a:t>
            </a:r>
            <a:r>
              <a:rPr lang="it-IT" sz="1400" dirty="0" err="1"/>
              <a:t>estimates</a:t>
            </a:r>
            <a:r>
              <a:rPr lang="it-IT" sz="1400" dirty="0"/>
              <a:t> the </a:t>
            </a:r>
            <a:r>
              <a:rPr lang="it-IT" sz="1400" dirty="0" err="1"/>
              <a:t>noise</a:t>
            </a:r>
            <a:r>
              <a:rPr lang="it-IT" sz="1400" dirty="0"/>
              <a:t> </a:t>
            </a:r>
            <a:r>
              <a:rPr lang="it-IT" sz="1400" dirty="0" err="1"/>
              <a:t>present</a:t>
            </a:r>
            <a:r>
              <a:rPr lang="it-IT" sz="1400" dirty="0"/>
              <a:t> in the input image, </a:t>
            </a:r>
            <a:r>
              <a:rPr lang="it-IT" sz="1400" dirty="0" err="1"/>
              <a:t>which</a:t>
            </a:r>
            <a:r>
              <a:rPr lang="it-IT" sz="1400" dirty="0"/>
              <a:t> </a:t>
            </a:r>
            <a:r>
              <a:rPr lang="it-IT" sz="1400" dirty="0" err="1"/>
              <a:t>is</a:t>
            </a:r>
            <a:r>
              <a:rPr lang="it-IT" sz="1400" dirty="0"/>
              <a:t> </a:t>
            </a:r>
            <a:r>
              <a:rPr lang="it-IT" sz="1400" dirty="0" err="1"/>
              <a:t>then</a:t>
            </a:r>
            <a:r>
              <a:rPr lang="it-IT" sz="1400" dirty="0"/>
              <a:t> </a:t>
            </a:r>
            <a:r>
              <a:rPr lang="it-IT" sz="1400" dirty="0" err="1"/>
              <a:t>subtracted</a:t>
            </a:r>
            <a:r>
              <a:rPr lang="it-IT" sz="1400" dirty="0"/>
              <a:t> from the input </a:t>
            </a:r>
            <a:r>
              <a:rPr lang="it-IT" sz="1400" dirty="0" err="1"/>
              <a:t>using</a:t>
            </a:r>
            <a:r>
              <a:rPr lang="it-IT" sz="1400" dirty="0"/>
              <a:t> a </a:t>
            </a:r>
            <a:r>
              <a:rPr lang="it-IT" sz="1400" b="1" dirty="0" err="1"/>
              <a:t>residual</a:t>
            </a:r>
            <a:r>
              <a:rPr lang="it-IT" sz="1400" b="1" dirty="0"/>
              <a:t> learning</a:t>
            </a:r>
            <a:r>
              <a:rPr lang="it-IT" sz="1400" dirty="0"/>
              <a:t> </a:t>
            </a:r>
            <a:r>
              <a:rPr lang="it-IT" sz="1400" dirty="0" err="1"/>
              <a:t>approach</a:t>
            </a:r>
            <a:r>
              <a:rPr lang="it-IT" sz="1400" dirty="0"/>
              <a:t>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3414510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(U-Net) — Quantitative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PSNR / SSIM on the first batch of test set, and on the single reference image 0.png (Attention U-Net, 8 epochs)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7315200" cy="23774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 σ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set (PSNR / SSIM)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0.png (PSNR / SSIM)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33.19 dB / 0.9460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33.57 dB / 0.9487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39.78 dB / 0.9723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39.90 dB / 0.9734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33.98 dB / 0.9199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34.25 dB / 0.9212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33.74 dB / 0.9139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34.00 dB / 0.9154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1600200"/>
            <a:ext cx="3474720" cy="3977640"/>
          </a:xfrm>
          <a:prstGeom prst="roundRect">
            <a:avLst>
              <a:gd name="adj" fmla="val 3158"/>
            </a:avLst>
          </a:prstGeom>
          <a:solidFill>
            <a:srgbClr val="E8F1F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8366760" y="1783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366760" y="2194560"/>
            <a:ext cx="30632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PSNR/SSIM stay close (or improve) when moving from ×2 to ×4, showing the network compensates for the coarser degradation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×2, noise 0.01 is the best result overall (39.78 dB / 0.9723) — notably higher than ×2, noise 0.005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Single-image (0.png) metrics are consistently with the test set batch average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48640" y="42062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(scale, noise) combination corresponds to an independently trained model checkpoint (4 variants).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H  |  Computational Imaging 2025-26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12" name="object 9">
            <a:extLst>
              <a:ext uri="{FF2B5EF4-FFF2-40B4-BE49-F238E27FC236}">
                <a16:creationId xmlns:a16="http://schemas.microsoft.com/office/drawing/2014/main" id="{C68A74D3-3372-B5B2-493B-81A32B0722FD}"/>
              </a:ext>
            </a:extLst>
          </p:cNvPr>
          <p:cNvSpPr/>
          <p:nvPr/>
        </p:nvSpPr>
        <p:spPr>
          <a:xfrm>
            <a:off x="10790026" y="0"/>
            <a:ext cx="1391920" cy="9361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U-Net — Visual Comparison (Scale ×2)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test image (0.png) — Ground truth vs. U-Net reconstruction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level σ = 0.005</a:t>
            </a:r>
            <a:endParaRPr lang="en-US" sz="1350" dirty="0"/>
          </a:p>
        </p:txBody>
      </p:sp>
      <p:pic>
        <p:nvPicPr>
          <p:cNvPr id="5" name="Image 0" descr="/home/claude/work/img/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6996" y="1708036"/>
            <a:ext cx="2286000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396996" y="1708036"/>
            <a:ext cx="2286000" cy="2286000"/>
          </a:xfrm>
          <a:prstGeom prst="rect">
            <a:avLst/>
          </a:prstGeom>
          <a:ln w="9525">
            <a:solidFill>
              <a:srgbClr val="D8E2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2985516" y="403061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512×512 reference</a:t>
            </a:r>
            <a:endParaRPr lang="en-US" sz="1050" dirty="0"/>
          </a:p>
        </p:txBody>
      </p:sp>
      <p:pic>
        <p:nvPicPr>
          <p:cNvPr id="8" name="Image 1" descr="/home/claude/work/img2/prediction_UNet_MSE_SSIM_FL_Residual_Attention_PixelShuffle_noise005_scal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5956" y="1708036"/>
            <a:ext cx="2286000" cy="22860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505956" y="1708036"/>
            <a:ext cx="2286000" cy="2286000"/>
          </a:xfrm>
          <a:prstGeom prst="rect">
            <a:avLst/>
          </a:prstGeom>
          <a:ln w="9525">
            <a:solidFill>
              <a:srgbClr val="D8E2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6"/>
          <p:cNvSpPr/>
          <p:nvPr/>
        </p:nvSpPr>
        <p:spPr>
          <a:xfrm>
            <a:off x="6094476" y="403061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33.57 dB | SSIM 0.9487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48640" y="3977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level σ = 0.01</a:t>
            </a:r>
            <a:endParaRPr lang="en-US" sz="1350" dirty="0"/>
          </a:p>
        </p:txBody>
      </p:sp>
      <p:pic>
        <p:nvPicPr>
          <p:cNvPr id="12" name="Image 2" descr="/home/claude/work/img/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6996" y="4297680"/>
            <a:ext cx="2286000" cy="22860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396996" y="4297680"/>
            <a:ext cx="2286000" cy="2286000"/>
          </a:xfrm>
          <a:prstGeom prst="rect">
            <a:avLst/>
          </a:prstGeom>
          <a:ln w="9525">
            <a:solidFill>
              <a:srgbClr val="D8E2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9"/>
          <p:cNvSpPr/>
          <p:nvPr/>
        </p:nvSpPr>
        <p:spPr>
          <a:xfrm>
            <a:off x="2985516" y="662025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512×512 reference</a:t>
            </a:r>
            <a:endParaRPr lang="en-US" sz="1050" dirty="0"/>
          </a:p>
        </p:txBody>
      </p:sp>
      <p:pic>
        <p:nvPicPr>
          <p:cNvPr id="15" name="Image 3" descr="/home/claude/work/img2/prediction_UNet_MSE_SSIM_FL_Residual_Attention_PixelShuffle_noise01_scale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4297680"/>
            <a:ext cx="2286000" cy="22860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505956" y="4297680"/>
            <a:ext cx="2286000" cy="2286000"/>
          </a:xfrm>
          <a:prstGeom prst="rect">
            <a:avLst/>
          </a:prstGeom>
          <a:ln w="9525">
            <a:solidFill>
              <a:srgbClr val="D8E2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1"/>
          <p:cNvSpPr/>
          <p:nvPr/>
        </p:nvSpPr>
        <p:spPr>
          <a:xfrm>
            <a:off x="6094476" y="662025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39.90 dB | SSIM 0.9734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H  |  Computational Imaging 2025-26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21" name="object 9">
            <a:extLst>
              <a:ext uri="{FF2B5EF4-FFF2-40B4-BE49-F238E27FC236}">
                <a16:creationId xmlns:a16="http://schemas.microsoft.com/office/drawing/2014/main" id="{52A16BE9-BBD3-25B1-8184-691542417FDE}"/>
              </a:ext>
            </a:extLst>
          </p:cNvPr>
          <p:cNvSpPr/>
          <p:nvPr/>
        </p:nvSpPr>
        <p:spPr>
          <a:xfrm>
            <a:off x="10790026" y="0"/>
            <a:ext cx="1391920" cy="93610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U-Net — Visual Comparison (Scale ×4)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test image (0.png) — Ground truth vs. U-Net reconstruction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level σ = 0.005</a:t>
            </a:r>
            <a:endParaRPr lang="en-US" sz="1350" dirty="0"/>
          </a:p>
        </p:txBody>
      </p:sp>
      <p:pic>
        <p:nvPicPr>
          <p:cNvPr id="5" name="Image 0" descr="/home/claude/work/img/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6996" y="1708034"/>
            <a:ext cx="2286000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396996" y="1708034"/>
            <a:ext cx="2286000" cy="2286000"/>
          </a:xfrm>
          <a:prstGeom prst="rect">
            <a:avLst/>
          </a:prstGeom>
          <a:ln w="9525">
            <a:solidFill>
              <a:srgbClr val="D8E2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2985516" y="403061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512×512 reference</a:t>
            </a:r>
            <a:endParaRPr lang="en-US" sz="1050" dirty="0"/>
          </a:p>
        </p:txBody>
      </p:sp>
      <p:pic>
        <p:nvPicPr>
          <p:cNvPr id="8" name="Image 1" descr="/home/claude/work/img2/prediction_UNet_MSE_SSIM_FL_Residual_Attention_PixelShuffle_noise005_scal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5956" y="1708034"/>
            <a:ext cx="2286000" cy="22860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505956" y="1708034"/>
            <a:ext cx="2286000" cy="2286000"/>
          </a:xfrm>
          <a:prstGeom prst="rect">
            <a:avLst/>
          </a:prstGeom>
          <a:ln w="9525">
            <a:solidFill>
              <a:srgbClr val="D8E2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6"/>
          <p:cNvSpPr/>
          <p:nvPr/>
        </p:nvSpPr>
        <p:spPr>
          <a:xfrm>
            <a:off x="6094476" y="403061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34.25 dB | SSIM 0.9212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48640" y="3977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level σ = 0.01</a:t>
            </a:r>
            <a:endParaRPr lang="en-US" sz="1350" dirty="0"/>
          </a:p>
        </p:txBody>
      </p:sp>
      <p:pic>
        <p:nvPicPr>
          <p:cNvPr id="12" name="Image 2" descr="/home/claude/work/img/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6996" y="4297680"/>
            <a:ext cx="2286000" cy="22860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396996" y="4297680"/>
            <a:ext cx="2286000" cy="2286000"/>
          </a:xfrm>
          <a:prstGeom prst="rect">
            <a:avLst/>
          </a:prstGeom>
          <a:ln w="9525">
            <a:solidFill>
              <a:srgbClr val="D8E2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9"/>
          <p:cNvSpPr/>
          <p:nvPr/>
        </p:nvSpPr>
        <p:spPr>
          <a:xfrm>
            <a:off x="2985516" y="662025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512×512 reference</a:t>
            </a:r>
            <a:endParaRPr lang="en-US" sz="1050" dirty="0"/>
          </a:p>
        </p:txBody>
      </p:sp>
      <p:pic>
        <p:nvPicPr>
          <p:cNvPr id="15" name="Image 3" descr="/home/claude/work/img2/prediction_UNet_MSE_SSIM_FL_Residual_Attention_PixelShuffle_noise01_scale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4297680"/>
            <a:ext cx="2286000" cy="22860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505956" y="4297680"/>
            <a:ext cx="2286000" cy="2286000"/>
          </a:xfrm>
          <a:prstGeom prst="rect">
            <a:avLst/>
          </a:prstGeom>
          <a:ln w="9525">
            <a:solidFill>
              <a:srgbClr val="D8E2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1"/>
          <p:cNvSpPr/>
          <p:nvPr/>
        </p:nvSpPr>
        <p:spPr>
          <a:xfrm>
            <a:off x="6094476" y="662025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34.00 dB | SSIM 0.9154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H  |  Computational Imaging 2025-26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21" name="object 9">
            <a:extLst>
              <a:ext uri="{FF2B5EF4-FFF2-40B4-BE49-F238E27FC236}">
                <a16:creationId xmlns:a16="http://schemas.microsoft.com/office/drawing/2014/main" id="{964A8F11-0F4C-8ABC-FA4A-7D38A973C5C0}"/>
              </a:ext>
            </a:extLst>
          </p:cNvPr>
          <p:cNvSpPr/>
          <p:nvPr/>
        </p:nvSpPr>
        <p:spPr>
          <a:xfrm>
            <a:off x="10790026" y="0"/>
            <a:ext cx="1391920" cy="93610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TpV — Quantitative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PSNR / SSIM on the first batch of test set (Chambolle-Pock, 150 iterations, best λ = 9×10⁻²)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7315200" cy="23774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67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 σ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67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= 0.1  (PSNR / SSIM)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67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= 0.4  (PSNR / SSIM)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67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31.06 dB / 0.8956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31.32 dB / 0.8932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30.88 dB / 0.8870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31.19 dB / 0.8882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26.85 dB / 0.7790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27.13 dB / 0.7845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26.78 dB / 0.7725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27.06 dB / 0.7785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1600200"/>
            <a:ext cx="3474720" cy="3977640"/>
          </a:xfrm>
          <a:prstGeom prst="roundRect">
            <a:avLst>
              <a:gd name="adj" fmla="val 3158"/>
            </a:avLst>
          </a:prstGeom>
          <a:solidFill>
            <a:srgbClr val="E8F1F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8366760" y="1783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366760" y="2194560"/>
            <a:ext cx="30632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9×10⁻² is the best regularization weight across every scale/noise combination tested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0.4 consistently outperforms p = 0.1 (both PSNR and SSIM)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is dominated by the downscale factor: ×2 reaches ~31 dB, ×4 drops to ~27 dB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to noise level (0.005 vs 0.01) is comparatively small</a:t>
            </a:r>
            <a:endParaRPr lang="en-US" sz="1200" dirty="0"/>
          </a:p>
        </p:txBody>
      </p:sp>
      <p:sp>
        <p:nvSpPr>
          <p:cNvPr id="4" name="Text 5"/>
          <p:cNvSpPr/>
          <p:nvPr/>
        </p:nvSpPr>
        <p:spPr>
          <a:xfrm>
            <a:off x="548640" y="42062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∈ {1e-3, 8e-2, 9e-2} tested for scale ×4; λ ∈ {5e-3, 9e-2, 4e-1} for scale ×2 (test-set batch average)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H  |  Computational Imaging 2025-26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2" name="object 9">
            <a:extLst>
              <a:ext uri="{FF2B5EF4-FFF2-40B4-BE49-F238E27FC236}">
                <a16:creationId xmlns:a16="http://schemas.microsoft.com/office/drawing/2014/main" id="{BA8709F8-1B28-56A8-A4C3-7C2F4067AB1A}"/>
              </a:ext>
            </a:extLst>
          </p:cNvPr>
          <p:cNvSpPr/>
          <p:nvPr/>
        </p:nvSpPr>
        <p:spPr>
          <a:xfrm>
            <a:off x="10790026" y="0"/>
            <a:ext cx="1391920" cy="9361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TpV — Visual Comparison (Scale ×2)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test image (0.png) — Ground truth vs. corrupted observation vs. TpV reconstruction (λ = 9×10⁻²)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level σ = 0.005</a:t>
            </a:r>
            <a:endParaRPr lang="en-US" sz="1350" dirty="0"/>
          </a:p>
        </p:txBody>
      </p:sp>
      <p:pic>
        <p:nvPicPr>
          <p:cNvPr id="5" name="Image 0" descr="/home/claude/work/img/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004" y="1828800"/>
            <a:ext cx="1508760" cy="1508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75004" y="1828800"/>
            <a:ext cx="1508760" cy="1508760"/>
          </a:xfrm>
          <a:prstGeom prst="rect">
            <a:avLst/>
          </a:prstGeom>
          <a:ln w="9525">
            <a:solidFill>
              <a:srgbClr val="D8E2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548640" y="3374136"/>
            <a:ext cx="2761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512×512 reference</a:t>
            </a:r>
            <a:endParaRPr lang="en-US" sz="950" dirty="0"/>
          </a:p>
        </p:txBody>
      </p:sp>
      <p:pic>
        <p:nvPicPr>
          <p:cNvPr id="8" name="Image 1" descr="/home/claude/work/img/Noisy_image_scale_2_noise_0_0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6492" y="1828800"/>
            <a:ext cx="1508760" cy="15087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936492" y="1828800"/>
            <a:ext cx="1508760" cy="1508760"/>
          </a:xfrm>
          <a:prstGeom prst="rect">
            <a:avLst/>
          </a:prstGeom>
          <a:ln w="9525">
            <a:solidFill>
              <a:srgbClr val="D8E2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6"/>
          <p:cNvSpPr/>
          <p:nvPr/>
        </p:nvSpPr>
        <p:spPr>
          <a:xfrm>
            <a:off x="3310128" y="3374136"/>
            <a:ext cx="2761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×2, σ=0.005</a:t>
            </a:r>
            <a:endParaRPr lang="en-US" sz="950" dirty="0"/>
          </a:p>
        </p:txBody>
      </p:sp>
      <p:pic>
        <p:nvPicPr>
          <p:cNvPr id="11" name="Image 2" descr="/home/claude/work/img/SR_image_scale_2_noise_0_005_lambda_9_000000e-02_p_0_1_PSNR_31_29_SSIM_0_893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7980" y="1828800"/>
            <a:ext cx="1508760" cy="1508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697980" y="1828800"/>
            <a:ext cx="1508760" cy="1508760"/>
          </a:xfrm>
          <a:prstGeom prst="rect">
            <a:avLst/>
          </a:prstGeom>
          <a:ln w="9525">
            <a:solidFill>
              <a:srgbClr val="D8E2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8"/>
          <p:cNvSpPr/>
          <p:nvPr/>
        </p:nvSpPr>
        <p:spPr>
          <a:xfrm>
            <a:off x="6071616" y="3374136"/>
            <a:ext cx="2761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31.29 dB | SSIM 0.8937</a:t>
            </a:r>
            <a:endParaRPr lang="en-US" sz="950" dirty="0"/>
          </a:p>
        </p:txBody>
      </p:sp>
      <p:pic>
        <p:nvPicPr>
          <p:cNvPr id="14" name="Image 3" descr="/home/claude/work/img/SR_image_scale_2_noise_0_005_lambda_9_000000e-02_p_0_4_PSNR_31_53_SSIM_0_891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9468" y="1828800"/>
            <a:ext cx="1508760" cy="150876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9459468" y="1828800"/>
            <a:ext cx="1508760" cy="1508760"/>
          </a:xfrm>
          <a:prstGeom prst="rect">
            <a:avLst/>
          </a:prstGeom>
          <a:ln w="9525">
            <a:solidFill>
              <a:srgbClr val="D8E2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0"/>
          <p:cNvSpPr/>
          <p:nvPr/>
        </p:nvSpPr>
        <p:spPr>
          <a:xfrm>
            <a:off x="8833104" y="3374136"/>
            <a:ext cx="2761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31.53 dB | SSIM 0.8913</a:t>
            </a:r>
            <a:endParaRPr lang="en-US" sz="950" dirty="0"/>
          </a:p>
        </p:txBody>
      </p:sp>
      <p:sp>
        <p:nvSpPr>
          <p:cNvPr id="17" name="Text 11"/>
          <p:cNvSpPr/>
          <p:nvPr/>
        </p:nvSpPr>
        <p:spPr>
          <a:xfrm>
            <a:off x="548640" y="3977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level σ = 0.01</a:t>
            </a:r>
            <a:endParaRPr lang="en-US" sz="1350" dirty="0"/>
          </a:p>
        </p:txBody>
      </p:sp>
      <p:pic>
        <p:nvPicPr>
          <p:cNvPr id="18" name="Image 4" descr="/home/claude/work/img/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004" y="4297680"/>
            <a:ext cx="1508760" cy="150876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1175004" y="4297680"/>
            <a:ext cx="1508760" cy="1508760"/>
          </a:xfrm>
          <a:prstGeom prst="rect">
            <a:avLst/>
          </a:prstGeom>
          <a:ln w="9525">
            <a:solidFill>
              <a:srgbClr val="D8E2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3"/>
          <p:cNvSpPr/>
          <p:nvPr/>
        </p:nvSpPr>
        <p:spPr>
          <a:xfrm>
            <a:off x="548640" y="5843016"/>
            <a:ext cx="2761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512×512 reference</a:t>
            </a:r>
            <a:endParaRPr lang="en-US" sz="950" dirty="0"/>
          </a:p>
        </p:txBody>
      </p:sp>
      <p:pic>
        <p:nvPicPr>
          <p:cNvPr id="21" name="Image 5" descr="/home/claude/work/img/Noisy_image_scale_2_noise_0_0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6492" y="4297680"/>
            <a:ext cx="1508760" cy="150876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3936492" y="4297680"/>
            <a:ext cx="1508760" cy="1508760"/>
          </a:xfrm>
          <a:prstGeom prst="rect">
            <a:avLst/>
          </a:prstGeom>
          <a:ln w="9525">
            <a:solidFill>
              <a:srgbClr val="D8E2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15"/>
          <p:cNvSpPr/>
          <p:nvPr/>
        </p:nvSpPr>
        <p:spPr>
          <a:xfrm>
            <a:off x="3310128" y="5843016"/>
            <a:ext cx="2761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×2, σ=0.01</a:t>
            </a:r>
            <a:endParaRPr lang="en-US" sz="950" dirty="0"/>
          </a:p>
        </p:txBody>
      </p:sp>
      <p:pic>
        <p:nvPicPr>
          <p:cNvPr id="24" name="Image 6" descr="/home/claude/work/img/SR_image_scale_2_noise_0_01_lambda_9_000000e-02_p_0_1_PSNR_31_08_SSIM_0_884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7980" y="4297680"/>
            <a:ext cx="1508760" cy="1508760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6697980" y="4297680"/>
            <a:ext cx="1508760" cy="1508760"/>
          </a:xfrm>
          <a:prstGeom prst="rect">
            <a:avLst/>
          </a:prstGeom>
          <a:ln w="9525">
            <a:solidFill>
              <a:srgbClr val="D8E2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17"/>
          <p:cNvSpPr/>
          <p:nvPr/>
        </p:nvSpPr>
        <p:spPr>
          <a:xfrm>
            <a:off x="6071616" y="5843016"/>
            <a:ext cx="2761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31.08 dB | SSIM 0.8842</a:t>
            </a:r>
            <a:endParaRPr lang="en-US" sz="950" dirty="0"/>
          </a:p>
        </p:txBody>
      </p:sp>
      <p:pic>
        <p:nvPicPr>
          <p:cNvPr id="27" name="Image 7" descr="/home/claude/work/img/SR_image_scale_2_noise_0_01_lambda_9_000000e-02_p_0_4_PSNR_31_47_SSIM_0_887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59468" y="4297680"/>
            <a:ext cx="1508760" cy="1508760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9459468" y="4297680"/>
            <a:ext cx="1508760" cy="1508760"/>
          </a:xfrm>
          <a:prstGeom prst="rect">
            <a:avLst/>
          </a:prstGeom>
          <a:ln w="9525">
            <a:solidFill>
              <a:srgbClr val="D8E2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19"/>
          <p:cNvSpPr/>
          <p:nvPr/>
        </p:nvSpPr>
        <p:spPr>
          <a:xfrm>
            <a:off x="8833104" y="5843016"/>
            <a:ext cx="2761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31.47 dB | SSIM 0.8874</a:t>
            </a:r>
            <a:endParaRPr lang="en-US" sz="950" dirty="0"/>
          </a:p>
        </p:txBody>
      </p:sp>
      <p:sp>
        <p:nvSpPr>
          <p:cNvPr id="30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H  |  Computational Imaging 2025-26</a:t>
            </a:r>
            <a:endParaRPr lang="en-US" sz="900" dirty="0"/>
          </a:p>
        </p:txBody>
      </p:sp>
      <p:sp>
        <p:nvSpPr>
          <p:cNvPr id="31" name="Text 2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3" name="object 9">
            <a:extLst>
              <a:ext uri="{FF2B5EF4-FFF2-40B4-BE49-F238E27FC236}">
                <a16:creationId xmlns:a16="http://schemas.microsoft.com/office/drawing/2014/main" id="{E822C587-739B-DE24-A1B0-DC02C39F5DDD}"/>
              </a:ext>
            </a:extLst>
          </p:cNvPr>
          <p:cNvSpPr/>
          <p:nvPr/>
        </p:nvSpPr>
        <p:spPr>
          <a:xfrm>
            <a:off x="10790026" y="0"/>
            <a:ext cx="1391920" cy="93610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TpV — Visual Comparison (Scale ×4)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test image (0.png) — Ground truth vs. corrupted observation vs. TpV reconstruction (λ = 9×10⁻²)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level σ = 0.005</a:t>
            </a:r>
            <a:endParaRPr lang="en-US" sz="1350" dirty="0"/>
          </a:p>
        </p:txBody>
      </p:sp>
      <p:pic>
        <p:nvPicPr>
          <p:cNvPr id="5" name="Image 0" descr="/home/claude/work/img/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004" y="1828800"/>
            <a:ext cx="1508760" cy="1508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75004" y="1828800"/>
            <a:ext cx="1508760" cy="1508760"/>
          </a:xfrm>
          <a:prstGeom prst="rect">
            <a:avLst/>
          </a:prstGeom>
          <a:ln w="9525">
            <a:solidFill>
              <a:srgbClr val="D8E2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548640" y="3374136"/>
            <a:ext cx="2761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512×512 reference</a:t>
            </a:r>
            <a:endParaRPr lang="en-US" sz="950" dirty="0"/>
          </a:p>
        </p:txBody>
      </p:sp>
      <p:pic>
        <p:nvPicPr>
          <p:cNvPr id="8" name="Image 1" descr="/home/claude/work/img/Noisy_image_scale_4_noise_0_0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6492" y="1828800"/>
            <a:ext cx="1508760" cy="15087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936492" y="1828800"/>
            <a:ext cx="1508760" cy="1508760"/>
          </a:xfrm>
          <a:prstGeom prst="rect">
            <a:avLst/>
          </a:prstGeom>
          <a:ln w="9525">
            <a:solidFill>
              <a:srgbClr val="D8E2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6"/>
          <p:cNvSpPr/>
          <p:nvPr/>
        </p:nvSpPr>
        <p:spPr>
          <a:xfrm>
            <a:off x="3310128" y="3374136"/>
            <a:ext cx="2761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×4, σ=0.005</a:t>
            </a:r>
            <a:endParaRPr lang="en-US" sz="950" dirty="0"/>
          </a:p>
        </p:txBody>
      </p:sp>
      <p:pic>
        <p:nvPicPr>
          <p:cNvPr id="11" name="Image 2" descr="/home/claude/work/img/SR_image_scale_4_noise_0_005_lambda_9_000000e-02_p_0_1_PSNR_27_03_SSIM_0_773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7980" y="1828800"/>
            <a:ext cx="1508760" cy="1508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697980" y="1828800"/>
            <a:ext cx="1508760" cy="1508760"/>
          </a:xfrm>
          <a:prstGeom prst="rect">
            <a:avLst/>
          </a:prstGeom>
          <a:ln w="9525">
            <a:solidFill>
              <a:srgbClr val="D8E2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8"/>
          <p:cNvSpPr/>
          <p:nvPr/>
        </p:nvSpPr>
        <p:spPr>
          <a:xfrm>
            <a:off x="6071616" y="3374136"/>
            <a:ext cx="2761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27.03 dB | SSIM 0.7737</a:t>
            </a:r>
            <a:endParaRPr lang="en-US" sz="950" dirty="0"/>
          </a:p>
        </p:txBody>
      </p:sp>
      <p:pic>
        <p:nvPicPr>
          <p:cNvPr id="14" name="Image 3" descr="/home/claude/work/img/SR_image_scale_4_noise_0_005_lambda_9_000000e-02_p_0_4_PSNR_27_28_SSIM_0_778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9468" y="1828800"/>
            <a:ext cx="1508760" cy="150876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9459468" y="1828800"/>
            <a:ext cx="1508760" cy="1508760"/>
          </a:xfrm>
          <a:prstGeom prst="rect">
            <a:avLst/>
          </a:prstGeom>
          <a:ln w="9525">
            <a:solidFill>
              <a:srgbClr val="D8E2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0"/>
          <p:cNvSpPr/>
          <p:nvPr/>
        </p:nvSpPr>
        <p:spPr>
          <a:xfrm>
            <a:off x="8833104" y="3374136"/>
            <a:ext cx="2761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27.28 dB | SSIM 0.7780</a:t>
            </a:r>
            <a:endParaRPr lang="en-US" sz="950" dirty="0"/>
          </a:p>
        </p:txBody>
      </p:sp>
      <p:sp>
        <p:nvSpPr>
          <p:cNvPr id="17" name="Text 11"/>
          <p:cNvSpPr/>
          <p:nvPr/>
        </p:nvSpPr>
        <p:spPr>
          <a:xfrm>
            <a:off x="548640" y="3977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level σ = 0.01</a:t>
            </a:r>
            <a:endParaRPr lang="en-US" sz="1350" dirty="0"/>
          </a:p>
        </p:txBody>
      </p:sp>
      <p:pic>
        <p:nvPicPr>
          <p:cNvPr id="18" name="Image 4" descr="/home/claude/work/img/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004" y="4297680"/>
            <a:ext cx="1508760" cy="150876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1175004" y="4297680"/>
            <a:ext cx="1508760" cy="1508760"/>
          </a:xfrm>
          <a:prstGeom prst="rect">
            <a:avLst/>
          </a:prstGeom>
          <a:ln w="9525">
            <a:solidFill>
              <a:srgbClr val="D8E2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3"/>
          <p:cNvSpPr/>
          <p:nvPr/>
        </p:nvSpPr>
        <p:spPr>
          <a:xfrm>
            <a:off x="548640" y="5843016"/>
            <a:ext cx="2761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512×512 reference</a:t>
            </a:r>
            <a:endParaRPr lang="en-US" sz="950" dirty="0"/>
          </a:p>
        </p:txBody>
      </p:sp>
      <p:pic>
        <p:nvPicPr>
          <p:cNvPr id="21" name="Image 5" descr="/home/claude/work/img/Noisy_image_scale_4_noise_0_0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6492" y="4297680"/>
            <a:ext cx="1508760" cy="150876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3936492" y="4297680"/>
            <a:ext cx="1508760" cy="1508760"/>
          </a:xfrm>
          <a:prstGeom prst="rect">
            <a:avLst/>
          </a:prstGeom>
          <a:ln w="9525">
            <a:solidFill>
              <a:srgbClr val="D8E2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15"/>
          <p:cNvSpPr/>
          <p:nvPr/>
        </p:nvSpPr>
        <p:spPr>
          <a:xfrm>
            <a:off x="3310128" y="5843016"/>
            <a:ext cx="2761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×4, σ=0.01</a:t>
            </a:r>
            <a:endParaRPr lang="en-US" sz="950" dirty="0"/>
          </a:p>
        </p:txBody>
      </p:sp>
      <p:pic>
        <p:nvPicPr>
          <p:cNvPr id="24" name="Image 6" descr="/home/claude/work/img/SR_image_scale_4_noise_0_01_lambda_9_000000e-02_p_0_1_PSNR_27_06_SSIM_0_770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7980" y="4297680"/>
            <a:ext cx="1508760" cy="1508760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6697980" y="4297680"/>
            <a:ext cx="1508760" cy="1508760"/>
          </a:xfrm>
          <a:prstGeom prst="rect">
            <a:avLst/>
          </a:prstGeom>
          <a:ln w="9525">
            <a:solidFill>
              <a:srgbClr val="D8E2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17"/>
          <p:cNvSpPr/>
          <p:nvPr/>
        </p:nvSpPr>
        <p:spPr>
          <a:xfrm>
            <a:off x="6071616" y="5843016"/>
            <a:ext cx="2761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27.06 dB | SSIM 0.7709</a:t>
            </a:r>
            <a:endParaRPr lang="en-US" sz="950" dirty="0"/>
          </a:p>
        </p:txBody>
      </p:sp>
      <p:pic>
        <p:nvPicPr>
          <p:cNvPr id="27" name="Image 7" descr="/home/claude/work/img/SR_image_scale_4_noise_0_01_lambda_9_000000e-02_p_0_4_PSNR_27_24_SSIM_0_773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59468" y="4297680"/>
            <a:ext cx="1508760" cy="1508760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9459468" y="4297680"/>
            <a:ext cx="1508760" cy="1508760"/>
          </a:xfrm>
          <a:prstGeom prst="rect">
            <a:avLst/>
          </a:prstGeom>
          <a:ln w="9525">
            <a:solidFill>
              <a:srgbClr val="D8E2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19"/>
          <p:cNvSpPr/>
          <p:nvPr/>
        </p:nvSpPr>
        <p:spPr>
          <a:xfrm>
            <a:off x="8833104" y="5843016"/>
            <a:ext cx="2761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27.24 dB | SSIM 0.7737</a:t>
            </a:r>
            <a:endParaRPr lang="en-US" sz="950" dirty="0"/>
          </a:p>
        </p:txBody>
      </p:sp>
      <p:sp>
        <p:nvSpPr>
          <p:cNvPr id="30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H  |  Computational Imaging 2025-26</a:t>
            </a:r>
            <a:endParaRPr lang="en-US" sz="900" dirty="0"/>
          </a:p>
        </p:txBody>
      </p:sp>
      <p:sp>
        <p:nvSpPr>
          <p:cNvPr id="31" name="Text 2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3" name="object 9">
            <a:extLst>
              <a:ext uri="{FF2B5EF4-FFF2-40B4-BE49-F238E27FC236}">
                <a16:creationId xmlns:a16="http://schemas.microsoft.com/office/drawing/2014/main" id="{DBD61B10-B1E2-4AFB-B373-3FEF49A33E17}"/>
              </a:ext>
            </a:extLst>
          </p:cNvPr>
          <p:cNvSpPr/>
          <p:nvPr/>
        </p:nvSpPr>
        <p:spPr>
          <a:xfrm>
            <a:off x="10790026" y="0"/>
            <a:ext cx="1391920" cy="93610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825607-B783-42F7-6133-CEF049111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12D5A53-3330-928F-3AAC-88693CC449FE}"/>
              </a:ext>
            </a:extLst>
          </p:cNvPr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GAN</a:t>
            </a:r>
            <a:endParaRPr lang="en-US" sz="3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FA7B17F-3079-4A67-647D-EBDE837C8853}"/>
              </a:ext>
            </a:extLst>
          </p:cNvPr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H  |  Computational Imaging 2025-26</a:t>
            </a:r>
            <a:endParaRPr lang="en-US" sz="9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BECDD48-A984-C78A-D778-23D3C66C6BCC}"/>
              </a:ext>
            </a:extLst>
          </p:cNvPr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C01BF505-9EBB-018D-C96A-C6A134D5DCCF}"/>
              </a:ext>
            </a:extLst>
          </p:cNvPr>
          <p:cNvSpPr/>
          <p:nvPr/>
        </p:nvSpPr>
        <p:spPr>
          <a:xfrm>
            <a:off x="10790026" y="0"/>
            <a:ext cx="1391920" cy="9361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B153687E-915E-B100-B236-9CBFAECAB2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18808" y="1097280"/>
            <a:ext cx="9351336" cy="510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8107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 + DPS — Quantitative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PSNR / SSIM on the first batch of test set (latent optimization, 1000 steps, η = 1e-2)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035040" cy="23774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C4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 σ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C4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set (PSNR / SSIM)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C4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19.70 dB / 0.5795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 dB / 0.5872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19.72 dB / 0.5769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20.24 dB / 0.5909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858000" y="1600200"/>
            <a:ext cx="4754880" cy="3977640"/>
          </a:xfrm>
          <a:prstGeom prst="roundRect">
            <a:avLst>
              <a:gd name="adj" fmla="val 2759"/>
            </a:avLst>
          </a:prstGeom>
          <a:solidFill>
            <a:srgbClr val="E8F1F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7086600" y="17830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086600" y="2194560"/>
            <a:ext cx="42976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the weakest method: ~20 dB PSNR vs. ~27–31 dB for TpV and ~33–40 dB for U-Net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Reconstructions are overly smooth: the generator prior recovers the overall anatomy but loses fine lung texture and detail (visible in the following slides)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insensitive to scale (×2 vs ×4) and noise level (0.005 vs 0.01): the bottleneck is the expressiveness of the frozen generator, not the degradation severity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4160520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Data-fidelity loss ||K(G(z)) − y||² / (2σ²) optimized the latent z of the frozen generator; K = downscaling operator matching each scale.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H  |  Computational Imaging 2025-26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FFE34336-3D00-193A-B3E0-6550AD2AE7C2}"/>
              </a:ext>
            </a:extLst>
          </p:cNvPr>
          <p:cNvSpPr/>
          <p:nvPr/>
        </p:nvSpPr>
        <p:spPr>
          <a:xfrm>
            <a:off x="10790026" y="0"/>
            <a:ext cx="1391920" cy="9361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 + DPS — Training Dynamics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/ Critic losses over 50 epochs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508760"/>
            <a:ext cx="7040880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5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5" name="Image 0" descr="/home/claude/work/img3/training_los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37360"/>
            <a:ext cx="6583680" cy="39502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80960" y="1737360"/>
            <a:ext cx="3931920" cy="4407408"/>
          </a:xfrm>
          <a:prstGeom prst="roundRect">
            <a:avLst>
              <a:gd name="adj" fmla="val 2791"/>
            </a:avLst>
          </a:prstGeom>
          <a:solidFill>
            <a:srgbClr val="E8F1F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790956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curves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909560" y="2331720"/>
            <a:ext cx="3520440" cy="3493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loss starts near 2.0 and drops sharply around epoch 10–13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loss rises from a negative region and stabilizes around 1.0–1.2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losses fluctuate but remain roughly balanced after epoch ~15, indicating stable adversarial training without collapse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H  |  Computational Imaging 2025-26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12" name="object 9">
            <a:extLst>
              <a:ext uri="{FF2B5EF4-FFF2-40B4-BE49-F238E27FC236}">
                <a16:creationId xmlns:a16="http://schemas.microsoft.com/office/drawing/2014/main" id="{6A3E07F2-669F-6E56-EB8C-06B636D35065}"/>
              </a:ext>
            </a:extLst>
          </p:cNvPr>
          <p:cNvSpPr/>
          <p:nvPr/>
        </p:nvSpPr>
        <p:spPr>
          <a:xfrm>
            <a:off x="10790026" y="0"/>
            <a:ext cx="1391920" cy="9361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 + DPS — Visual Comparison (Scale ×2)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test image (0.png) — Ground truth | Noisy low-resolution observation | GAN+DPS reconstruction</a:t>
            </a:r>
            <a:endParaRPr lang="en-US" sz="1250" dirty="0"/>
          </a:p>
        </p:txBody>
      </p:sp>
      <p:pic>
        <p:nvPicPr>
          <p:cNvPr id="4" name="Image 0" descr="/home/claude/work/img3/Results_scale_2_noise_0_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4160" y="1371600"/>
            <a:ext cx="6583680" cy="2743200"/>
          </a:xfrm>
          <a:prstGeom prst="rect">
            <a:avLst/>
          </a:prstGeom>
        </p:spPr>
      </p:pic>
      <p:pic>
        <p:nvPicPr>
          <p:cNvPr id="5" name="Image 1" descr="/home/claude/work/img3/Results_scale_2_noise_0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4160" y="3840480"/>
            <a:ext cx="6583680" cy="2743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H  |  Computational Imaging 2025-26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C85DFA28-59EF-6EB9-E283-34B0967C7F75}"/>
              </a:ext>
            </a:extLst>
          </p:cNvPr>
          <p:cNvSpPr/>
          <p:nvPr/>
        </p:nvSpPr>
        <p:spPr>
          <a:xfrm>
            <a:off x="10790026" y="0"/>
            <a:ext cx="1391920" cy="93610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 + DPS — Visual Comparison (Scale ×4)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test image (0.png) — Ground truth | Noisy low-resolution observation | GAN+DPS reconstruction</a:t>
            </a:r>
            <a:endParaRPr lang="en-US" sz="1250" dirty="0"/>
          </a:p>
        </p:txBody>
      </p:sp>
      <p:pic>
        <p:nvPicPr>
          <p:cNvPr id="4" name="Image 0" descr="/home/claude/work/img3/Results_scale_4_noise_0_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4160" y="1371600"/>
            <a:ext cx="6583680" cy="2743200"/>
          </a:xfrm>
          <a:prstGeom prst="rect">
            <a:avLst/>
          </a:prstGeom>
        </p:spPr>
      </p:pic>
      <p:pic>
        <p:nvPicPr>
          <p:cNvPr id="5" name="Image 1" descr="/home/claude/work/img3/Results_scale_4_noise_0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4160" y="3840478"/>
            <a:ext cx="6583680" cy="2743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H  |  Computational Imaging 2025-26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98E390E9-ED10-C0F9-9482-7F676C1E2FD0}"/>
              </a:ext>
            </a:extLst>
          </p:cNvPr>
          <p:cNvSpPr/>
          <p:nvPr/>
        </p:nvSpPr>
        <p:spPr>
          <a:xfrm>
            <a:off x="10790026" y="0"/>
            <a:ext cx="1391920" cy="93610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Cross-Method Comparison — Numerical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and best PSNR / SSIM per method, across all four scale/noise configurations tested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7039671"/>
              </p:ext>
            </p:extLst>
          </p:nvPr>
        </p:nvGraphicFramePr>
        <p:xfrm>
          <a:off x="548639" y="1729267"/>
          <a:ext cx="7315198" cy="3531520"/>
        </p:xfrm>
        <a:graphic>
          <a:graphicData uri="http://schemas.openxmlformats.org/drawingml/2006/table">
            <a:tbl>
              <a:tblPr firstRow="1"/>
              <a:tblGrid>
                <a:gridCol w="16300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7520">
                  <a:extLst>
                    <a:ext uri="{9D8B030D-6E8A-4147-A177-3AD203B41FA5}">
                      <a16:colId xmlns:a16="http://schemas.microsoft.com/office/drawing/2014/main" val="2963576344"/>
                    </a:ext>
                  </a:extLst>
                </a:gridCol>
                <a:gridCol w="947520">
                  <a:extLst>
                    <a:ext uri="{9D8B030D-6E8A-4147-A177-3AD203B41FA5}">
                      <a16:colId xmlns:a16="http://schemas.microsoft.com/office/drawing/2014/main" val="2164017047"/>
                    </a:ext>
                  </a:extLst>
                </a:gridCol>
                <a:gridCol w="94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7520">
                  <a:extLst>
                    <a:ext uri="{9D8B030D-6E8A-4147-A177-3AD203B41FA5}">
                      <a16:colId xmlns:a16="http://schemas.microsoft.com/office/drawing/2014/main" val="2675492636"/>
                    </a:ext>
                  </a:extLst>
                </a:gridCol>
                <a:gridCol w="947520">
                  <a:extLst>
                    <a:ext uri="{9D8B030D-6E8A-4147-A177-3AD203B41FA5}">
                      <a16:colId xmlns:a16="http://schemas.microsoft.com/office/drawing/2014/main" val="2538013050"/>
                    </a:ext>
                  </a:extLst>
                </a:gridCol>
              </a:tblGrid>
              <a:tr h="52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67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PSNR (dB)  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4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67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PSNR (dB) 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67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PSNR (dB)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GAN+DPS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67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SSIM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4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67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SSIM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67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SSIM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GAN+DPS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67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2, Noise 0.005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31.32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latin typeface="Calibri" charset="0"/>
                          <a:ea typeface="Calibri" charset="0"/>
                          <a:cs typeface="Calibri" charset="0"/>
                        </a:rPr>
                        <a:t>33.19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latin typeface="Calibri" charset="0"/>
                          <a:ea typeface="Calibri" charset="0"/>
                          <a:cs typeface="Calibri" charset="0"/>
                        </a:rPr>
                        <a:t>19.70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0.8932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latin typeface="Calibri" charset="0"/>
                          <a:ea typeface="Calibri" charset="0"/>
                          <a:cs typeface="Calibri" charset="0"/>
                        </a:rPr>
                        <a:t>0.9460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latin typeface="Calibri" charset="0"/>
                          <a:ea typeface="Calibri" charset="0"/>
                          <a:cs typeface="Calibri" charset="0"/>
                        </a:rPr>
                        <a:t>0.5795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2, Noise 0.01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latin typeface="Calibri" charset="0"/>
                          <a:ea typeface="Calibri" charset="0"/>
                          <a:cs typeface="Calibri" charset="0"/>
                        </a:rPr>
                        <a:t>31.19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latin typeface="Calibri" charset="0"/>
                          <a:ea typeface="Calibri" charset="0"/>
                          <a:cs typeface="Calibri" charset="0"/>
                        </a:rPr>
                        <a:t>39.78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latin typeface="Calibri" charset="0"/>
                          <a:ea typeface="Calibri" charset="0"/>
                          <a:cs typeface="Calibri" charset="0"/>
                        </a:rPr>
                        <a:t>20.00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latin typeface="Calibri" charset="0"/>
                          <a:ea typeface="Calibri" charset="0"/>
                          <a:cs typeface="Calibri" charset="0"/>
                        </a:rPr>
                        <a:t>0.8882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latin typeface="Calibri" charset="0"/>
                          <a:ea typeface="Calibri" charset="0"/>
                          <a:cs typeface="Calibri" charset="0"/>
                        </a:rPr>
                        <a:t>0.9723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latin typeface="Calibri" charset="0"/>
                          <a:ea typeface="Calibri" charset="0"/>
                          <a:cs typeface="Calibri" charset="0"/>
                        </a:rPr>
                        <a:t>0.5872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4, Noise 0.005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latin typeface="Calibri" charset="0"/>
                          <a:ea typeface="Calibri" charset="0"/>
                          <a:cs typeface="Calibri" charset="0"/>
                        </a:rPr>
                        <a:t>27.13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latin typeface="Calibri" charset="0"/>
                          <a:ea typeface="Calibri" charset="0"/>
                          <a:cs typeface="Calibri" charset="0"/>
                        </a:rPr>
                        <a:t>33.98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latin typeface="Calibri" charset="0"/>
                          <a:ea typeface="Calibri" charset="0"/>
                          <a:cs typeface="Calibri" charset="0"/>
                        </a:rPr>
                        <a:t>19.72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latin typeface="Calibri" charset="0"/>
                          <a:ea typeface="Calibri" charset="0"/>
                          <a:cs typeface="Calibri" charset="0"/>
                        </a:rPr>
                        <a:t>0.7845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latin typeface="Calibri" charset="0"/>
                          <a:ea typeface="Calibri" charset="0"/>
                          <a:cs typeface="Calibri" charset="0"/>
                        </a:rPr>
                        <a:t>0.9199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latin typeface="Calibri" charset="0"/>
                          <a:ea typeface="Calibri" charset="0"/>
                          <a:cs typeface="Calibri" charset="0"/>
                        </a:rPr>
                        <a:t>0.5769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latin typeface="Calibri" charset="0"/>
                          <a:ea typeface="Calibri" charset="0"/>
                          <a:cs typeface="Calibri" charset="0"/>
                        </a:rPr>
                        <a:t>Scale 4, Noise 0.01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latin typeface="Calibri" charset="0"/>
                          <a:ea typeface="Calibri" charset="0"/>
                          <a:cs typeface="Calibri" charset="0"/>
                        </a:rPr>
                        <a:t>27.06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latin typeface="Calibri" charset="0"/>
                          <a:ea typeface="Calibri" charset="0"/>
                          <a:cs typeface="Calibri" charset="0"/>
                        </a:rPr>
                        <a:t>33.74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latin typeface="Calibri" charset="0"/>
                          <a:ea typeface="Calibri" charset="0"/>
                          <a:cs typeface="Calibri" charset="0"/>
                        </a:rPr>
                        <a:t>20.24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latin typeface="Calibri" charset="0"/>
                          <a:ea typeface="Calibri" charset="0"/>
                          <a:cs typeface="Calibri" charset="0"/>
                        </a:rPr>
                        <a:t>0.7785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latin typeface="Calibri" charset="0"/>
                          <a:ea typeface="Calibri" charset="0"/>
                          <a:cs typeface="Calibri" charset="0"/>
                        </a:rPr>
                        <a:t>0.9139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latin typeface="Calibri" charset="0"/>
                          <a:ea typeface="Calibri" charset="0"/>
                          <a:cs typeface="Calibri" charset="0"/>
                        </a:rPr>
                        <a:t>0.5909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072209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1600200"/>
            <a:ext cx="3474720" cy="3977640"/>
          </a:xfrm>
          <a:prstGeom prst="roundRect">
            <a:avLst>
              <a:gd name="adj" fmla="val 3158"/>
            </a:avLst>
          </a:prstGeom>
          <a:solidFill>
            <a:srgbClr val="E8F1F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8366760" y="1783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366760" y="2194560"/>
            <a:ext cx="30632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delivers the strongest performance on PSNR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SSIM gap mirrors PSNR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without any training data, TpV stays within ~6 dB of the learned U-Net, and clearly ahead of the GAN inversion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GAN+DPS is nearly insensitive to scale/noise, confirming its bottleneck is the generator’s expressiveness, not the degradation</a:t>
            </a:r>
            <a:endParaRPr lang="en-US" sz="1200" dirty="0"/>
          </a:p>
        </p:txBody>
      </p:sp>
      <p:sp>
        <p:nvSpPr>
          <p:cNvPr id="4" name="Text 5"/>
          <p:cNvSpPr/>
          <p:nvPr/>
        </p:nvSpPr>
        <p:spPr>
          <a:xfrm>
            <a:off x="541179" y="5051577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TpV values use the best-performing exponent (p = 0.4); U-Net and GAN+DPS values are test-set averages as reported on the previous slides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H  |  Computational Imaging 2025-26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12" name="object 9">
            <a:extLst>
              <a:ext uri="{FF2B5EF4-FFF2-40B4-BE49-F238E27FC236}">
                <a16:creationId xmlns:a16="http://schemas.microsoft.com/office/drawing/2014/main" id="{7E1E7339-0D6B-4E6F-3B49-991D89E02A54}"/>
              </a:ext>
            </a:extLst>
          </p:cNvPr>
          <p:cNvSpPr/>
          <p:nvPr/>
        </p:nvSpPr>
        <p:spPr>
          <a:xfrm>
            <a:off x="10790026" y="0"/>
            <a:ext cx="1391920" cy="9361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Cross-Method Comparison — Visual Overview </a:t>
            </a:r>
          </a:p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(scale 2, noise 0.005)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86533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vs. best reconstruction from each method, on the same test image (0.png)</a:t>
            </a:r>
            <a:endParaRPr lang="en-US" sz="1300" dirty="0"/>
          </a:p>
        </p:txBody>
      </p:sp>
      <p:sp>
        <p:nvSpPr>
          <p:cNvPr id="20" name="Header"/>
          <p:cNvSpPr/>
          <p:nvPr/>
        </p:nvSpPr>
        <p:spPr>
          <a:xfrm>
            <a:off x="783584" y="1921263"/>
            <a:ext cx="2480000" cy="32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</a:t>
            </a:r>
            <a:endParaRPr lang="en-US" sz="1300" dirty="0"/>
          </a:p>
        </p:txBody>
      </p:sp>
      <p:pic>
        <p:nvPicPr>
          <p:cNvPr id="21" name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584" y="2301263"/>
            <a:ext cx="2480000" cy="2480000"/>
          </a:xfrm>
          <a:prstGeom prst="rect">
            <a:avLst/>
          </a:prstGeom>
        </p:spPr>
      </p:pic>
      <p:sp>
        <p:nvSpPr>
          <p:cNvPr id="22" name="Border"/>
          <p:cNvSpPr/>
          <p:nvPr/>
        </p:nvSpPr>
        <p:spPr>
          <a:xfrm>
            <a:off x="783584" y="2301263"/>
            <a:ext cx="2480000" cy="2480000"/>
          </a:xfrm>
          <a:prstGeom prst="rect">
            <a:avLst/>
          </a:prstGeom>
          <a:ln w="9525">
            <a:solidFill>
              <a:srgbClr val="D8E2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Caption"/>
          <p:cNvSpPr/>
          <p:nvPr/>
        </p:nvSpPr>
        <p:spPr>
          <a:xfrm>
            <a:off x="783584" y="4871263"/>
            <a:ext cx="2480000" cy="30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0.png — 512×512 reference</a:t>
            </a:r>
            <a:endParaRPr lang="en-US" sz="1000" dirty="0"/>
          </a:p>
        </p:txBody>
      </p:sp>
      <p:sp>
        <p:nvSpPr>
          <p:cNvPr id="24" name="Header"/>
          <p:cNvSpPr/>
          <p:nvPr/>
        </p:nvSpPr>
        <p:spPr>
          <a:xfrm>
            <a:off x="3498528" y="1921263"/>
            <a:ext cx="2480000" cy="32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TpV (Variational)</a:t>
            </a:r>
            <a:endParaRPr lang="en-US" sz="1300" dirty="0"/>
          </a:p>
        </p:txBody>
      </p:sp>
      <p:pic>
        <p:nvPicPr>
          <p:cNvPr id="25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8528" y="2301263"/>
            <a:ext cx="2480000" cy="2480000"/>
          </a:xfrm>
          <a:prstGeom prst="rect">
            <a:avLst/>
          </a:prstGeom>
        </p:spPr>
      </p:pic>
      <p:sp>
        <p:nvSpPr>
          <p:cNvPr id="26" name="Border"/>
          <p:cNvSpPr/>
          <p:nvPr/>
        </p:nvSpPr>
        <p:spPr>
          <a:xfrm>
            <a:off x="3498528" y="2301263"/>
            <a:ext cx="2480000" cy="2480000"/>
          </a:xfrm>
          <a:prstGeom prst="rect">
            <a:avLst/>
          </a:prstGeom>
          <a:ln w="9525">
            <a:solidFill>
              <a:srgbClr val="D8E2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Caption"/>
          <p:cNvSpPr/>
          <p:nvPr/>
        </p:nvSpPr>
        <p:spPr>
          <a:xfrm>
            <a:off x="3498528" y="4871263"/>
            <a:ext cx="2480000" cy="30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×2, σ=0.005, p = 0.4</a:t>
            </a:r>
            <a:endParaRPr lang="en-US" sz="1000" dirty="0"/>
          </a:p>
        </p:txBody>
      </p:sp>
      <p:sp>
        <p:nvSpPr>
          <p:cNvPr id="28" name="Caption"/>
          <p:cNvSpPr/>
          <p:nvPr/>
        </p:nvSpPr>
        <p:spPr>
          <a:xfrm>
            <a:off x="3498528" y="5171263"/>
            <a:ext cx="2480000" cy="28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31.32 dB | SSIM 0.8932</a:t>
            </a:r>
            <a:endParaRPr lang="en-US" sz="1000" dirty="0"/>
          </a:p>
        </p:txBody>
      </p:sp>
      <p:sp>
        <p:nvSpPr>
          <p:cNvPr id="29" name="Header"/>
          <p:cNvSpPr/>
          <p:nvPr/>
        </p:nvSpPr>
        <p:spPr>
          <a:xfrm>
            <a:off x="6213472" y="1921263"/>
            <a:ext cx="2480000" cy="32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(End-to-End)</a:t>
            </a:r>
            <a:endParaRPr lang="en-US" sz="1300" dirty="0"/>
          </a:p>
        </p:txBody>
      </p:sp>
      <p:pic>
        <p:nvPicPr>
          <p:cNvPr id="30" name="Image 2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13472" y="2301263"/>
            <a:ext cx="2480000" cy="2480000"/>
          </a:xfrm>
          <a:prstGeom prst="rect">
            <a:avLst/>
          </a:prstGeom>
        </p:spPr>
      </p:pic>
      <p:sp>
        <p:nvSpPr>
          <p:cNvPr id="31" name="Border"/>
          <p:cNvSpPr/>
          <p:nvPr/>
        </p:nvSpPr>
        <p:spPr>
          <a:xfrm>
            <a:off x="6213472" y="2301263"/>
            <a:ext cx="2480000" cy="2480000"/>
          </a:xfrm>
          <a:prstGeom prst="rect">
            <a:avLst/>
          </a:prstGeom>
          <a:ln w="9525">
            <a:solidFill>
              <a:srgbClr val="D8E2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Caption"/>
          <p:cNvSpPr/>
          <p:nvPr/>
        </p:nvSpPr>
        <p:spPr>
          <a:xfrm>
            <a:off x="6213472" y="4871263"/>
            <a:ext cx="2480000" cy="30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×2, σ=0.005</a:t>
            </a:r>
            <a:endParaRPr lang="en-US" sz="1000" dirty="0"/>
          </a:p>
        </p:txBody>
      </p:sp>
      <p:sp>
        <p:nvSpPr>
          <p:cNvPr id="33" name="Caption"/>
          <p:cNvSpPr/>
          <p:nvPr/>
        </p:nvSpPr>
        <p:spPr>
          <a:xfrm>
            <a:off x="6213472" y="5171263"/>
            <a:ext cx="2480000" cy="28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33.19 dB | SSIM 0.9460</a:t>
            </a:r>
            <a:endParaRPr lang="en-US" sz="1000" dirty="0"/>
          </a:p>
        </p:txBody>
      </p:sp>
      <p:sp>
        <p:nvSpPr>
          <p:cNvPr id="34" name="Header"/>
          <p:cNvSpPr/>
          <p:nvPr/>
        </p:nvSpPr>
        <p:spPr>
          <a:xfrm>
            <a:off x="8928416" y="1921263"/>
            <a:ext cx="2480000" cy="32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 + DPS (Generative)</a:t>
            </a:r>
            <a:endParaRPr lang="en-US" sz="1300" dirty="0"/>
          </a:p>
        </p:txBody>
      </p:sp>
      <p:pic>
        <p:nvPicPr>
          <p:cNvPr id="35" name="Image 3"/>
          <p:cNvPicPr>
            <a:picLocks noChangeAspect="1"/>
          </p:cNvPicPr>
          <p:nvPr/>
        </p:nvPicPr>
        <p:blipFill>
          <a:blip r:embed="rId5"/>
          <a:srcRect l="67849" t="12017" r="1534" b="11753"/>
          <a:stretch>
            <a:fillRect/>
          </a:stretch>
        </p:blipFill>
        <p:spPr>
          <a:xfrm>
            <a:off x="8928416" y="2316263"/>
            <a:ext cx="2480000" cy="2465000"/>
          </a:xfrm>
          <a:prstGeom prst="rect">
            <a:avLst/>
          </a:prstGeom>
        </p:spPr>
      </p:pic>
      <p:sp>
        <p:nvSpPr>
          <p:cNvPr id="36" name="Border"/>
          <p:cNvSpPr/>
          <p:nvPr/>
        </p:nvSpPr>
        <p:spPr>
          <a:xfrm>
            <a:off x="8928416" y="2301263"/>
            <a:ext cx="2480000" cy="2480000"/>
          </a:xfrm>
          <a:prstGeom prst="rect">
            <a:avLst/>
          </a:prstGeom>
          <a:ln w="9525">
            <a:solidFill>
              <a:srgbClr val="D8E2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Caption"/>
          <p:cNvSpPr/>
          <p:nvPr/>
        </p:nvSpPr>
        <p:spPr>
          <a:xfrm>
            <a:off x="8928416" y="4871263"/>
            <a:ext cx="2480000" cy="30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×2, σ=0.005</a:t>
            </a:r>
            <a:endParaRPr lang="en-US" sz="1000" dirty="0"/>
          </a:p>
        </p:txBody>
      </p:sp>
      <p:sp>
        <p:nvSpPr>
          <p:cNvPr id="38" name="Caption"/>
          <p:cNvSpPr/>
          <p:nvPr/>
        </p:nvSpPr>
        <p:spPr>
          <a:xfrm>
            <a:off x="8928416" y="5171263"/>
            <a:ext cx="2480000" cy="28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19.70 dB | SSIM 0.5795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H  |  Computational Imaging 2025-26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object 9">
            <a:extLst>
              <a:ext uri="{FF2B5EF4-FFF2-40B4-BE49-F238E27FC236}">
                <a16:creationId xmlns:a16="http://schemas.microsoft.com/office/drawing/2014/main" id="{1A6169A0-AB0B-9370-CCAA-F53320188560}"/>
              </a:ext>
            </a:extLst>
          </p:cNvPr>
          <p:cNvSpPr/>
          <p:nvPr/>
        </p:nvSpPr>
        <p:spPr>
          <a:xfrm>
            <a:off x="10790026" y="0"/>
            <a:ext cx="1391920" cy="93610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61ABEF-DD12-C80E-520B-D1AA76DDE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FFEBE4F-7027-BE2D-9E35-982C498BD50E}"/>
              </a:ext>
            </a:extLst>
          </p:cNvPr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Cross-Method Comparison — Visual Overview </a:t>
            </a:r>
          </a:p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(scale 2, noise 0.01)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F95D2F2-F792-42A5-EE67-C4859A871A23}"/>
              </a:ext>
            </a:extLst>
          </p:cNvPr>
          <p:cNvSpPr/>
          <p:nvPr/>
        </p:nvSpPr>
        <p:spPr>
          <a:xfrm>
            <a:off x="548640" y="1386533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vs. best reconstruction from each method, on the same test image (0.png)</a:t>
            </a:r>
            <a:endParaRPr lang="en-US" sz="1300" dirty="0"/>
          </a:p>
        </p:txBody>
      </p:sp>
      <p:sp>
        <p:nvSpPr>
          <p:cNvPr id="20" name="Header">
            <a:extLst>
              <a:ext uri="{FF2B5EF4-FFF2-40B4-BE49-F238E27FC236}">
                <a16:creationId xmlns:a16="http://schemas.microsoft.com/office/drawing/2014/main" id="{93522E0F-7309-2717-34DC-009FC2FE1EC3}"/>
              </a:ext>
            </a:extLst>
          </p:cNvPr>
          <p:cNvSpPr/>
          <p:nvPr/>
        </p:nvSpPr>
        <p:spPr>
          <a:xfrm>
            <a:off x="783584" y="1921263"/>
            <a:ext cx="2480000" cy="32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</a:t>
            </a:r>
            <a:endParaRPr lang="en-US" sz="1300" dirty="0"/>
          </a:p>
        </p:txBody>
      </p:sp>
      <p:pic>
        <p:nvPicPr>
          <p:cNvPr id="21" name="Image 0">
            <a:extLst>
              <a:ext uri="{FF2B5EF4-FFF2-40B4-BE49-F238E27FC236}">
                <a16:creationId xmlns:a16="http://schemas.microsoft.com/office/drawing/2014/main" id="{6CA287B7-BF77-816D-B7DC-CF575766E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584" y="2301263"/>
            <a:ext cx="2480000" cy="2480000"/>
          </a:xfrm>
          <a:prstGeom prst="rect">
            <a:avLst/>
          </a:prstGeom>
        </p:spPr>
      </p:pic>
      <p:sp>
        <p:nvSpPr>
          <p:cNvPr id="22" name="Border">
            <a:extLst>
              <a:ext uri="{FF2B5EF4-FFF2-40B4-BE49-F238E27FC236}">
                <a16:creationId xmlns:a16="http://schemas.microsoft.com/office/drawing/2014/main" id="{38534B37-F6FC-38A7-06A6-E62BA0623194}"/>
              </a:ext>
            </a:extLst>
          </p:cNvPr>
          <p:cNvSpPr/>
          <p:nvPr/>
        </p:nvSpPr>
        <p:spPr>
          <a:xfrm>
            <a:off x="783584" y="2301263"/>
            <a:ext cx="2480000" cy="2480000"/>
          </a:xfrm>
          <a:prstGeom prst="rect">
            <a:avLst/>
          </a:prstGeom>
          <a:ln w="9525">
            <a:solidFill>
              <a:srgbClr val="D8E2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Caption">
            <a:extLst>
              <a:ext uri="{FF2B5EF4-FFF2-40B4-BE49-F238E27FC236}">
                <a16:creationId xmlns:a16="http://schemas.microsoft.com/office/drawing/2014/main" id="{6FF69C5D-D0D1-776D-A613-563193308040}"/>
              </a:ext>
            </a:extLst>
          </p:cNvPr>
          <p:cNvSpPr/>
          <p:nvPr/>
        </p:nvSpPr>
        <p:spPr>
          <a:xfrm>
            <a:off x="783584" y="4871263"/>
            <a:ext cx="2480000" cy="30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0.png — 512×512 reference</a:t>
            </a:r>
            <a:endParaRPr lang="en-US" sz="1000" dirty="0"/>
          </a:p>
        </p:txBody>
      </p:sp>
      <p:sp>
        <p:nvSpPr>
          <p:cNvPr id="24" name="Header">
            <a:extLst>
              <a:ext uri="{FF2B5EF4-FFF2-40B4-BE49-F238E27FC236}">
                <a16:creationId xmlns:a16="http://schemas.microsoft.com/office/drawing/2014/main" id="{6655BDEC-6F9A-D6BC-D6C9-74931B77FAC3}"/>
              </a:ext>
            </a:extLst>
          </p:cNvPr>
          <p:cNvSpPr/>
          <p:nvPr/>
        </p:nvSpPr>
        <p:spPr>
          <a:xfrm>
            <a:off x="3498528" y="1921263"/>
            <a:ext cx="2480000" cy="32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TpV (Variational)</a:t>
            </a:r>
            <a:endParaRPr lang="en-US" sz="1300" dirty="0"/>
          </a:p>
        </p:txBody>
      </p:sp>
      <p:pic>
        <p:nvPicPr>
          <p:cNvPr id="25" name="Image 1">
            <a:extLst>
              <a:ext uri="{FF2B5EF4-FFF2-40B4-BE49-F238E27FC236}">
                <a16:creationId xmlns:a16="http://schemas.microsoft.com/office/drawing/2014/main" id="{12A182C1-FF4C-1FDC-EF12-E8BCFBFB48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98528" y="2301263"/>
            <a:ext cx="2480000" cy="2480000"/>
          </a:xfrm>
          <a:prstGeom prst="rect">
            <a:avLst/>
          </a:prstGeom>
        </p:spPr>
      </p:pic>
      <p:sp>
        <p:nvSpPr>
          <p:cNvPr id="26" name="Border">
            <a:extLst>
              <a:ext uri="{FF2B5EF4-FFF2-40B4-BE49-F238E27FC236}">
                <a16:creationId xmlns:a16="http://schemas.microsoft.com/office/drawing/2014/main" id="{5A3C1ABA-56A4-62BD-B407-D3FFD6A260A0}"/>
              </a:ext>
            </a:extLst>
          </p:cNvPr>
          <p:cNvSpPr/>
          <p:nvPr/>
        </p:nvSpPr>
        <p:spPr>
          <a:xfrm>
            <a:off x="3498528" y="2301263"/>
            <a:ext cx="2480000" cy="2480000"/>
          </a:xfrm>
          <a:prstGeom prst="rect">
            <a:avLst/>
          </a:prstGeom>
          <a:ln w="9525">
            <a:solidFill>
              <a:srgbClr val="D8E2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Caption">
            <a:extLst>
              <a:ext uri="{FF2B5EF4-FFF2-40B4-BE49-F238E27FC236}">
                <a16:creationId xmlns:a16="http://schemas.microsoft.com/office/drawing/2014/main" id="{47C0EFA9-7B7E-93FE-F069-B00FC8074119}"/>
              </a:ext>
            </a:extLst>
          </p:cNvPr>
          <p:cNvSpPr/>
          <p:nvPr/>
        </p:nvSpPr>
        <p:spPr>
          <a:xfrm>
            <a:off x="3498528" y="4871263"/>
            <a:ext cx="2480000" cy="30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×2, σ=0.01, p = 0.4</a:t>
            </a:r>
            <a:endParaRPr lang="en-US" sz="1000" dirty="0"/>
          </a:p>
        </p:txBody>
      </p:sp>
      <p:sp>
        <p:nvSpPr>
          <p:cNvPr id="28" name="Caption">
            <a:extLst>
              <a:ext uri="{FF2B5EF4-FFF2-40B4-BE49-F238E27FC236}">
                <a16:creationId xmlns:a16="http://schemas.microsoft.com/office/drawing/2014/main" id="{C5532E3D-EE78-D0BC-2E54-A07CD8F09D51}"/>
              </a:ext>
            </a:extLst>
          </p:cNvPr>
          <p:cNvSpPr/>
          <p:nvPr/>
        </p:nvSpPr>
        <p:spPr>
          <a:xfrm>
            <a:off x="3498528" y="5171263"/>
            <a:ext cx="2480000" cy="28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31.19 dB | SSIM 0.8882</a:t>
            </a:r>
            <a:endParaRPr lang="en-US" sz="1000" dirty="0"/>
          </a:p>
        </p:txBody>
      </p:sp>
      <p:sp>
        <p:nvSpPr>
          <p:cNvPr id="29" name="Header">
            <a:extLst>
              <a:ext uri="{FF2B5EF4-FFF2-40B4-BE49-F238E27FC236}">
                <a16:creationId xmlns:a16="http://schemas.microsoft.com/office/drawing/2014/main" id="{5B5079FB-6E30-84FF-85DF-1D03203F00D2}"/>
              </a:ext>
            </a:extLst>
          </p:cNvPr>
          <p:cNvSpPr/>
          <p:nvPr/>
        </p:nvSpPr>
        <p:spPr>
          <a:xfrm>
            <a:off x="6213472" y="1921263"/>
            <a:ext cx="2480000" cy="32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(End-to-End)</a:t>
            </a:r>
            <a:endParaRPr lang="en-US" sz="1300" dirty="0"/>
          </a:p>
        </p:txBody>
      </p:sp>
      <p:pic>
        <p:nvPicPr>
          <p:cNvPr id="30" name="Image 2">
            <a:extLst>
              <a:ext uri="{FF2B5EF4-FFF2-40B4-BE49-F238E27FC236}">
                <a16:creationId xmlns:a16="http://schemas.microsoft.com/office/drawing/2014/main" id="{B2948EE0-3AD2-379F-F1A2-E39F3BCFCF6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13472" y="2301263"/>
            <a:ext cx="2480000" cy="2480000"/>
          </a:xfrm>
          <a:prstGeom prst="rect">
            <a:avLst/>
          </a:prstGeom>
        </p:spPr>
      </p:pic>
      <p:sp>
        <p:nvSpPr>
          <p:cNvPr id="31" name="Border">
            <a:extLst>
              <a:ext uri="{FF2B5EF4-FFF2-40B4-BE49-F238E27FC236}">
                <a16:creationId xmlns:a16="http://schemas.microsoft.com/office/drawing/2014/main" id="{5E3687DA-2FA4-8B5A-B583-415A7CF27409}"/>
              </a:ext>
            </a:extLst>
          </p:cNvPr>
          <p:cNvSpPr/>
          <p:nvPr/>
        </p:nvSpPr>
        <p:spPr>
          <a:xfrm>
            <a:off x="6213472" y="2301263"/>
            <a:ext cx="2480000" cy="2480000"/>
          </a:xfrm>
          <a:prstGeom prst="rect">
            <a:avLst/>
          </a:prstGeom>
          <a:ln w="9525">
            <a:solidFill>
              <a:srgbClr val="D8E2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Caption">
            <a:extLst>
              <a:ext uri="{FF2B5EF4-FFF2-40B4-BE49-F238E27FC236}">
                <a16:creationId xmlns:a16="http://schemas.microsoft.com/office/drawing/2014/main" id="{5DDAF7DE-B393-B9B6-BFB3-5BC6D60C4635}"/>
              </a:ext>
            </a:extLst>
          </p:cNvPr>
          <p:cNvSpPr/>
          <p:nvPr/>
        </p:nvSpPr>
        <p:spPr>
          <a:xfrm>
            <a:off x="6213472" y="4871263"/>
            <a:ext cx="2480000" cy="30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×2, σ=0.01</a:t>
            </a:r>
            <a:endParaRPr lang="en-US" sz="1000" dirty="0"/>
          </a:p>
        </p:txBody>
      </p:sp>
      <p:sp>
        <p:nvSpPr>
          <p:cNvPr id="33" name="Caption">
            <a:extLst>
              <a:ext uri="{FF2B5EF4-FFF2-40B4-BE49-F238E27FC236}">
                <a16:creationId xmlns:a16="http://schemas.microsoft.com/office/drawing/2014/main" id="{274D512A-C058-7FA9-06C1-D58040204E24}"/>
              </a:ext>
            </a:extLst>
          </p:cNvPr>
          <p:cNvSpPr/>
          <p:nvPr/>
        </p:nvSpPr>
        <p:spPr>
          <a:xfrm>
            <a:off x="6213472" y="5171263"/>
            <a:ext cx="2480000" cy="28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39.78 dB | SSIM 0.9723</a:t>
            </a:r>
            <a:endParaRPr lang="en-US" sz="1000" dirty="0"/>
          </a:p>
        </p:txBody>
      </p:sp>
      <p:sp>
        <p:nvSpPr>
          <p:cNvPr id="34" name="Header">
            <a:extLst>
              <a:ext uri="{FF2B5EF4-FFF2-40B4-BE49-F238E27FC236}">
                <a16:creationId xmlns:a16="http://schemas.microsoft.com/office/drawing/2014/main" id="{B1EEAF32-3585-AA76-6259-42542B1DAC98}"/>
              </a:ext>
            </a:extLst>
          </p:cNvPr>
          <p:cNvSpPr/>
          <p:nvPr/>
        </p:nvSpPr>
        <p:spPr>
          <a:xfrm>
            <a:off x="8928416" y="1921263"/>
            <a:ext cx="2480000" cy="32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 + DPS (Generative)</a:t>
            </a:r>
            <a:endParaRPr lang="en-US" sz="1300" dirty="0"/>
          </a:p>
        </p:txBody>
      </p:sp>
      <p:pic>
        <p:nvPicPr>
          <p:cNvPr id="35" name="Image 3">
            <a:extLst>
              <a:ext uri="{FF2B5EF4-FFF2-40B4-BE49-F238E27FC236}">
                <a16:creationId xmlns:a16="http://schemas.microsoft.com/office/drawing/2014/main" id="{CBA95FB4-487B-D504-964A-8CDD0B7E321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7138" t="12293" r="1453" b="11865"/>
          <a:stretch>
            <a:fillRect/>
          </a:stretch>
        </p:blipFill>
        <p:spPr>
          <a:xfrm>
            <a:off x="8928416" y="2301263"/>
            <a:ext cx="2480001" cy="2480000"/>
          </a:xfrm>
          <a:prstGeom prst="rect">
            <a:avLst/>
          </a:prstGeom>
        </p:spPr>
      </p:pic>
      <p:sp>
        <p:nvSpPr>
          <p:cNvPr id="36" name="Border">
            <a:extLst>
              <a:ext uri="{FF2B5EF4-FFF2-40B4-BE49-F238E27FC236}">
                <a16:creationId xmlns:a16="http://schemas.microsoft.com/office/drawing/2014/main" id="{EEDCB15A-4AC7-CAEC-37B7-85ABD618959D}"/>
              </a:ext>
            </a:extLst>
          </p:cNvPr>
          <p:cNvSpPr/>
          <p:nvPr/>
        </p:nvSpPr>
        <p:spPr>
          <a:xfrm>
            <a:off x="8928416" y="2301263"/>
            <a:ext cx="2480000" cy="2480000"/>
          </a:xfrm>
          <a:prstGeom prst="rect">
            <a:avLst/>
          </a:prstGeom>
          <a:ln w="9525">
            <a:solidFill>
              <a:srgbClr val="D8E2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Caption">
            <a:extLst>
              <a:ext uri="{FF2B5EF4-FFF2-40B4-BE49-F238E27FC236}">
                <a16:creationId xmlns:a16="http://schemas.microsoft.com/office/drawing/2014/main" id="{1356C7AC-3FCB-1F54-0B6C-639D244D97DD}"/>
              </a:ext>
            </a:extLst>
          </p:cNvPr>
          <p:cNvSpPr/>
          <p:nvPr/>
        </p:nvSpPr>
        <p:spPr>
          <a:xfrm>
            <a:off x="8928416" y="4871263"/>
            <a:ext cx="2480000" cy="30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×2, σ=0.01</a:t>
            </a:r>
            <a:endParaRPr lang="en-US" sz="1000" dirty="0"/>
          </a:p>
        </p:txBody>
      </p:sp>
      <p:sp>
        <p:nvSpPr>
          <p:cNvPr id="38" name="Caption">
            <a:extLst>
              <a:ext uri="{FF2B5EF4-FFF2-40B4-BE49-F238E27FC236}">
                <a16:creationId xmlns:a16="http://schemas.microsoft.com/office/drawing/2014/main" id="{AAA4AC25-8840-7422-CAFC-B240DA40DAE1}"/>
              </a:ext>
            </a:extLst>
          </p:cNvPr>
          <p:cNvSpPr/>
          <p:nvPr/>
        </p:nvSpPr>
        <p:spPr>
          <a:xfrm>
            <a:off x="8928416" y="5171263"/>
            <a:ext cx="2480000" cy="28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20.00 dB | SSIM 0.5872</a:t>
            </a:r>
            <a:endParaRPr lang="en-US" sz="10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AC52DB5C-2F2F-1646-D120-ECE1B64D93B6}"/>
              </a:ext>
            </a:extLst>
          </p:cNvPr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H  |  Computational Imaging 2025-26</a:t>
            </a:r>
            <a:endParaRPr lang="en-US" sz="9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CA91C400-E7D1-FA8C-85CA-E38976BC57B3}"/>
              </a:ext>
            </a:extLst>
          </p:cNvPr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object 9">
            <a:extLst>
              <a:ext uri="{FF2B5EF4-FFF2-40B4-BE49-F238E27FC236}">
                <a16:creationId xmlns:a16="http://schemas.microsoft.com/office/drawing/2014/main" id="{4385E85F-64ED-6640-FFD4-57A05795B53F}"/>
              </a:ext>
            </a:extLst>
          </p:cNvPr>
          <p:cNvSpPr/>
          <p:nvPr/>
        </p:nvSpPr>
        <p:spPr>
          <a:xfrm>
            <a:off x="10790026" y="0"/>
            <a:ext cx="1391920" cy="93610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170011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D7AC0-D0E6-6400-024D-8840A5357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43C9E29-B7FF-DEF1-0963-6AA125C052B2}"/>
              </a:ext>
            </a:extLst>
          </p:cNvPr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Cross-Method Comparison — Visual Overview </a:t>
            </a:r>
          </a:p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(scale 4, noise 0.005)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B91BEEB-DDFA-11B1-2423-0FAFB155DCBB}"/>
              </a:ext>
            </a:extLst>
          </p:cNvPr>
          <p:cNvSpPr/>
          <p:nvPr/>
        </p:nvSpPr>
        <p:spPr>
          <a:xfrm>
            <a:off x="548640" y="1386533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vs. best reconstruction from each method, on the same test image (0.png)</a:t>
            </a:r>
            <a:endParaRPr lang="en-US" sz="1300" dirty="0"/>
          </a:p>
        </p:txBody>
      </p:sp>
      <p:sp>
        <p:nvSpPr>
          <p:cNvPr id="20" name="Header">
            <a:extLst>
              <a:ext uri="{FF2B5EF4-FFF2-40B4-BE49-F238E27FC236}">
                <a16:creationId xmlns:a16="http://schemas.microsoft.com/office/drawing/2014/main" id="{76C7FF56-337A-9909-06F0-CB1452016A98}"/>
              </a:ext>
            </a:extLst>
          </p:cNvPr>
          <p:cNvSpPr/>
          <p:nvPr/>
        </p:nvSpPr>
        <p:spPr>
          <a:xfrm>
            <a:off x="783584" y="1921263"/>
            <a:ext cx="2480000" cy="32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</a:t>
            </a:r>
            <a:endParaRPr lang="en-US" sz="1300" dirty="0"/>
          </a:p>
        </p:txBody>
      </p:sp>
      <p:pic>
        <p:nvPicPr>
          <p:cNvPr id="21" name="Image 0">
            <a:extLst>
              <a:ext uri="{FF2B5EF4-FFF2-40B4-BE49-F238E27FC236}">
                <a16:creationId xmlns:a16="http://schemas.microsoft.com/office/drawing/2014/main" id="{B9B12B52-502F-3CEE-261D-8B80246AD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584" y="2301263"/>
            <a:ext cx="2480000" cy="2480000"/>
          </a:xfrm>
          <a:prstGeom prst="rect">
            <a:avLst/>
          </a:prstGeom>
        </p:spPr>
      </p:pic>
      <p:sp>
        <p:nvSpPr>
          <p:cNvPr id="22" name="Border">
            <a:extLst>
              <a:ext uri="{FF2B5EF4-FFF2-40B4-BE49-F238E27FC236}">
                <a16:creationId xmlns:a16="http://schemas.microsoft.com/office/drawing/2014/main" id="{0EF06025-0F2C-8FA8-79E2-43D0AC53C9E1}"/>
              </a:ext>
            </a:extLst>
          </p:cNvPr>
          <p:cNvSpPr/>
          <p:nvPr/>
        </p:nvSpPr>
        <p:spPr>
          <a:xfrm>
            <a:off x="783584" y="2301263"/>
            <a:ext cx="2480000" cy="2480000"/>
          </a:xfrm>
          <a:prstGeom prst="rect">
            <a:avLst/>
          </a:prstGeom>
          <a:ln w="9525">
            <a:solidFill>
              <a:srgbClr val="D8E2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Caption">
            <a:extLst>
              <a:ext uri="{FF2B5EF4-FFF2-40B4-BE49-F238E27FC236}">
                <a16:creationId xmlns:a16="http://schemas.microsoft.com/office/drawing/2014/main" id="{5DFFDD3D-A774-7005-DA1D-EFC3CF9F2298}"/>
              </a:ext>
            </a:extLst>
          </p:cNvPr>
          <p:cNvSpPr/>
          <p:nvPr/>
        </p:nvSpPr>
        <p:spPr>
          <a:xfrm>
            <a:off x="783584" y="4871263"/>
            <a:ext cx="2480000" cy="30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0.png — 512×512 reference</a:t>
            </a:r>
            <a:endParaRPr lang="en-US" sz="1000" dirty="0"/>
          </a:p>
        </p:txBody>
      </p:sp>
      <p:sp>
        <p:nvSpPr>
          <p:cNvPr id="24" name="Header">
            <a:extLst>
              <a:ext uri="{FF2B5EF4-FFF2-40B4-BE49-F238E27FC236}">
                <a16:creationId xmlns:a16="http://schemas.microsoft.com/office/drawing/2014/main" id="{B1F41BE1-6283-6387-7E9A-25A2A3514DE6}"/>
              </a:ext>
            </a:extLst>
          </p:cNvPr>
          <p:cNvSpPr/>
          <p:nvPr/>
        </p:nvSpPr>
        <p:spPr>
          <a:xfrm>
            <a:off x="3498528" y="1921263"/>
            <a:ext cx="2480000" cy="32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TpV (Variational)</a:t>
            </a:r>
            <a:endParaRPr lang="en-US" sz="1300" dirty="0"/>
          </a:p>
        </p:txBody>
      </p:sp>
      <p:pic>
        <p:nvPicPr>
          <p:cNvPr id="25" name="Image 1">
            <a:extLst>
              <a:ext uri="{FF2B5EF4-FFF2-40B4-BE49-F238E27FC236}">
                <a16:creationId xmlns:a16="http://schemas.microsoft.com/office/drawing/2014/main" id="{E7AA18C9-D885-E1FE-1B20-9ABEA7E606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98528" y="2301263"/>
            <a:ext cx="2480000" cy="2480000"/>
          </a:xfrm>
          <a:prstGeom prst="rect">
            <a:avLst/>
          </a:prstGeom>
        </p:spPr>
      </p:pic>
      <p:sp>
        <p:nvSpPr>
          <p:cNvPr id="26" name="Border">
            <a:extLst>
              <a:ext uri="{FF2B5EF4-FFF2-40B4-BE49-F238E27FC236}">
                <a16:creationId xmlns:a16="http://schemas.microsoft.com/office/drawing/2014/main" id="{07A0BA9A-8DEB-4F9B-AA5E-7109AD393D2E}"/>
              </a:ext>
            </a:extLst>
          </p:cNvPr>
          <p:cNvSpPr/>
          <p:nvPr/>
        </p:nvSpPr>
        <p:spPr>
          <a:xfrm>
            <a:off x="3498528" y="2301263"/>
            <a:ext cx="2480000" cy="2480000"/>
          </a:xfrm>
          <a:prstGeom prst="rect">
            <a:avLst/>
          </a:prstGeom>
          <a:ln w="9525">
            <a:solidFill>
              <a:srgbClr val="D8E2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Caption">
            <a:extLst>
              <a:ext uri="{FF2B5EF4-FFF2-40B4-BE49-F238E27FC236}">
                <a16:creationId xmlns:a16="http://schemas.microsoft.com/office/drawing/2014/main" id="{127A5203-F4CB-7BFC-8F9C-4E1F3130C409}"/>
              </a:ext>
            </a:extLst>
          </p:cNvPr>
          <p:cNvSpPr/>
          <p:nvPr/>
        </p:nvSpPr>
        <p:spPr>
          <a:xfrm>
            <a:off x="3498528" y="4871263"/>
            <a:ext cx="2480000" cy="30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×4, σ=0.005, p = 0.4</a:t>
            </a:r>
            <a:endParaRPr lang="en-US" sz="1000" dirty="0"/>
          </a:p>
        </p:txBody>
      </p:sp>
      <p:sp>
        <p:nvSpPr>
          <p:cNvPr id="28" name="Caption">
            <a:extLst>
              <a:ext uri="{FF2B5EF4-FFF2-40B4-BE49-F238E27FC236}">
                <a16:creationId xmlns:a16="http://schemas.microsoft.com/office/drawing/2014/main" id="{42DC0E30-944D-16E0-10E0-30E1A0C38CB5}"/>
              </a:ext>
            </a:extLst>
          </p:cNvPr>
          <p:cNvSpPr/>
          <p:nvPr/>
        </p:nvSpPr>
        <p:spPr>
          <a:xfrm>
            <a:off x="3498528" y="5171263"/>
            <a:ext cx="2480000" cy="28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27.13 dB | SSIM 0.7845</a:t>
            </a:r>
            <a:endParaRPr lang="en-US" sz="1000" dirty="0"/>
          </a:p>
        </p:txBody>
      </p:sp>
      <p:sp>
        <p:nvSpPr>
          <p:cNvPr id="29" name="Header">
            <a:extLst>
              <a:ext uri="{FF2B5EF4-FFF2-40B4-BE49-F238E27FC236}">
                <a16:creationId xmlns:a16="http://schemas.microsoft.com/office/drawing/2014/main" id="{B5B3171C-FA52-72AA-6916-C2D703D3850C}"/>
              </a:ext>
            </a:extLst>
          </p:cNvPr>
          <p:cNvSpPr/>
          <p:nvPr/>
        </p:nvSpPr>
        <p:spPr>
          <a:xfrm>
            <a:off x="6213472" y="1921263"/>
            <a:ext cx="2480000" cy="32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(End-to-End)</a:t>
            </a:r>
            <a:endParaRPr lang="en-US" sz="1300" dirty="0"/>
          </a:p>
        </p:txBody>
      </p:sp>
      <p:pic>
        <p:nvPicPr>
          <p:cNvPr id="30" name="Image 2">
            <a:extLst>
              <a:ext uri="{FF2B5EF4-FFF2-40B4-BE49-F238E27FC236}">
                <a16:creationId xmlns:a16="http://schemas.microsoft.com/office/drawing/2014/main" id="{664FE40F-F0EC-2055-6758-83E06131E51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13472" y="2301263"/>
            <a:ext cx="2480000" cy="2480000"/>
          </a:xfrm>
          <a:prstGeom prst="rect">
            <a:avLst/>
          </a:prstGeom>
        </p:spPr>
      </p:pic>
      <p:sp>
        <p:nvSpPr>
          <p:cNvPr id="31" name="Border">
            <a:extLst>
              <a:ext uri="{FF2B5EF4-FFF2-40B4-BE49-F238E27FC236}">
                <a16:creationId xmlns:a16="http://schemas.microsoft.com/office/drawing/2014/main" id="{43C03CE5-1AC4-49F1-DC9B-4371FDB49A31}"/>
              </a:ext>
            </a:extLst>
          </p:cNvPr>
          <p:cNvSpPr/>
          <p:nvPr/>
        </p:nvSpPr>
        <p:spPr>
          <a:xfrm>
            <a:off x="6213472" y="2301263"/>
            <a:ext cx="2480000" cy="2480000"/>
          </a:xfrm>
          <a:prstGeom prst="rect">
            <a:avLst/>
          </a:prstGeom>
          <a:ln w="9525">
            <a:solidFill>
              <a:srgbClr val="D8E2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Caption">
            <a:extLst>
              <a:ext uri="{FF2B5EF4-FFF2-40B4-BE49-F238E27FC236}">
                <a16:creationId xmlns:a16="http://schemas.microsoft.com/office/drawing/2014/main" id="{5E48D886-23C3-4D3F-CCA3-996D44A06CC0}"/>
              </a:ext>
            </a:extLst>
          </p:cNvPr>
          <p:cNvSpPr/>
          <p:nvPr/>
        </p:nvSpPr>
        <p:spPr>
          <a:xfrm>
            <a:off x="6213472" y="4871263"/>
            <a:ext cx="2480000" cy="30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×4, σ=0.005</a:t>
            </a:r>
            <a:endParaRPr lang="en-US" sz="1000" dirty="0"/>
          </a:p>
        </p:txBody>
      </p:sp>
      <p:sp>
        <p:nvSpPr>
          <p:cNvPr id="33" name="Caption">
            <a:extLst>
              <a:ext uri="{FF2B5EF4-FFF2-40B4-BE49-F238E27FC236}">
                <a16:creationId xmlns:a16="http://schemas.microsoft.com/office/drawing/2014/main" id="{9D26C575-2205-70DA-6D30-8C2D6053C1D0}"/>
              </a:ext>
            </a:extLst>
          </p:cNvPr>
          <p:cNvSpPr/>
          <p:nvPr/>
        </p:nvSpPr>
        <p:spPr>
          <a:xfrm>
            <a:off x="6213472" y="5171263"/>
            <a:ext cx="2480000" cy="28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33.98 dB | SSIM 0.9199</a:t>
            </a:r>
            <a:endParaRPr lang="en-US" sz="1000" dirty="0"/>
          </a:p>
        </p:txBody>
      </p:sp>
      <p:sp>
        <p:nvSpPr>
          <p:cNvPr id="34" name="Header">
            <a:extLst>
              <a:ext uri="{FF2B5EF4-FFF2-40B4-BE49-F238E27FC236}">
                <a16:creationId xmlns:a16="http://schemas.microsoft.com/office/drawing/2014/main" id="{10C03A92-EAA7-2E22-9F58-83BD3BC70A5B}"/>
              </a:ext>
            </a:extLst>
          </p:cNvPr>
          <p:cNvSpPr/>
          <p:nvPr/>
        </p:nvSpPr>
        <p:spPr>
          <a:xfrm>
            <a:off x="8928416" y="1921263"/>
            <a:ext cx="2480000" cy="32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 + DPS (Generative)</a:t>
            </a:r>
            <a:endParaRPr lang="en-US" sz="1300" dirty="0"/>
          </a:p>
        </p:txBody>
      </p:sp>
      <p:pic>
        <p:nvPicPr>
          <p:cNvPr id="35" name="Image 3">
            <a:extLst>
              <a:ext uri="{FF2B5EF4-FFF2-40B4-BE49-F238E27FC236}">
                <a16:creationId xmlns:a16="http://schemas.microsoft.com/office/drawing/2014/main" id="{6FF7CCF5-975C-8368-EC61-CE1B70ACA65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7044" t="12085" r="1176" b="12845"/>
          <a:stretch>
            <a:fillRect/>
          </a:stretch>
        </p:blipFill>
        <p:spPr>
          <a:xfrm>
            <a:off x="8928415" y="2311127"/>
            <a:ext cx="2480001" cy="2470136"/>
          </a:xfrm>
          <a:prstGeom prst="rect">
            <a:avLst/>
          </a:prstGeom>
        </p:spPr>
      </p:pic>
      <p:sp>
        <p:nvSpPr>
          <p:cNvPr id="36" name="Border">
            <a:extLst>
              <a:ext uri="{FF2B5EF4-FFF2-40B4-BE49-F238E27FC236}">
                <a16:creationId xmlns:a16="http://schemas.microsoft.com/office/drawing/2014/main" id="{CDB0C3D1-F57E-A4C6-547E-F2E4E6AD9D2B}"/>
              </a:ext>
            </a:extLst>
          </p:cNvPr>
          <p:cNvSpPr/>
          <p:nvPr/>
        </p:nvSpPr>
        <p:spPr>
          <a:xfrm>
            <a:off x="8928416" y="2301263"/>
            <a:ext cx="2480000" cy="2480000"/>
          </a:xfrm>
          <a:prstGeom prst="rect">
            <a:avLst/>
          </a:prstGeom>
          <a:ln w="9525">
            <a:solidFill>
              <a:srgbClr val="D8E2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Caption">
            <a:extLst>
              <a:ext uri="{FF2B5EF4-FFF2-40B4-BE49-F238E27FC236}">
                <a16:creationId xmlns:a16="http://schemas.microsoft.com/office/drawing/2014/main" id="{823E23A2-E5B9-92A9-81BB-8A686AC2AC90}"/>
              </a:ext>
            </a:extLst>
          </p:cNvPr>
          <p:cNvSpPr/>
          <p:nvPr/>
        </p:nvSpPr>
        <p:spPr>
          <a:xfrm>
            <a:off x="8928416" y="4871263"/>
            <a:ext cx="2480000" cy="30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×4, σ=0.005</a:t>
            </a:r>
            <a:endParaRPr lang="en-US" sz="1000" dirty="0"/>
          </a:p>
        </p:txBody>
      </p:sp>
      <p:sp>
        <p:nvSpPr>
          <p:cNvPr id="38" name="Caption">
            <a:extLst>
              <a:ext uri="{FF2B5EF4-FFF2-40B4-BE49-F238E27FC236}">
                <a16:creationId xmlns:a16="http://schemas.microsoft.com/office/drawing/2014/main" id="{DFDFAE5D-58BF-117B-4A87-EA54115B2B6F}"/>
              </a:ext>
            </a:extLst>
          </p:cNvPr>
          <p:cNvSpPr/>
          <p:nvPr/>
        </p:nvSpPr>
        <p:spPr>
          <a:xfrm>
            <a:off x="8928416" y="5171263"/>
            <a:ext cx="2480000" cy="28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19.72 dB | SSIM 0.5769</a:t>
            </a:r>
            <a:endParaRPr lang="en-US" sz="10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B5DB17BA-E950-CA3B-CF07-DB4A25ED4285}"/>
              </a:ext>
            </a:extLst>
          </p:cNvPr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H  |  Computational Imaging 2025-26</a:t>
            </a:r>
            <a:endParaRPr lang="en-US" sz="9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657070C5-4C74-792B-2B07-201CAF635D4E}"/>
              </a:ext>
            </a:extLst>
          </p:cNvPr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object 9">
            <a:extLst>
              <a:ext uri="{FF2B5EF4-FFF2-40B4-BE49-F238E27FC236}">
                <a16:creationId xmlns:a16="http://schemas.microsoft.com/office/drawing/2014/main" id="{62277EB1-3F26-5975-DFDB-AF013C655ED3}"/>
              </a:ext>
            </a:extLst>
          </p:cNvPr>
          <p:cNvSpPr/>
          <p:nvPr/>
        </p:nvSpPr>
        <p:spPr>
          <a:xfrm>
            <a:off x="10790026" y="0"/>
            <a:ext cx="1391920" cy="93610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102737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E0AEEF-950B-9B28-58C1-F10ECA621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A61FCC4-EFD1-7754-4FBB-5F4874493A57}"/>
              </a:ext>
            </a:extLst>
          </p:cNvPr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Cross-Method Comparison — Visual Overview </a:t>
            </a:r>
          </a:p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(scale 4, noise 0.01)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2EA0D22-81D3-4D00-954A-74DE1C2C8342}"/>
              </a:ext>
            </a:extLst>
          </p:cNvPr>
          <p:cNvSpPr/>
          <p:nvPr/>
        </p:nvSpPr>
        <p:spPr>
          <a:xfrm>
            <a:off x="548640" y="1386533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vs. best reconstruction from each method, on the same test image (0.png)</a:t>
            </a:r>
            <a:endParaRPr lang="en-US" sz="1300" dirty="0"/>
          </a:p>
        </p:txBody>
      </p:sp>
      <p:sp>
        <p:nvSpPr>
          <p:cNvPr id="20" name="Header">
            <a:extLst>
              <a:ext uri="{FF2B5EF4-FFF2-40B4-BE49-F238E27FC236}">
                <a16:creationId xmlns:a16="http://schemas.microsoft.com/office/drawing/2014/main" id="{77B1BE54-5BA6-D4FD-5B80-A794AE08122F}"/>
              </a:ext>
            </a:extLst>
          </p:cNvPr>
          <p:cNvSpPr/>
          <p:nvPr/>
        </p:nvSpPr>
        <p:spPr>
          <a:xfrm>
            <a:off x="783584" y="1921263"/>
            <a:ext cx="2480000" cy="32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</a:t>
            </a:r>
            <a:endParaRPr lang="en-US" sz="1300" dirty="0"/>
          </a:p>
        </p:txBody>
      </p:sp>
      <p:pic>
        <p:nvPicPr>
          <p:cNvPr id="21" name="Image 0">
            <a:extLst>
              <a:ext uri="{FF2B5EF4-FFF2-40B4-BE49-F238E27FC236}">
                <a16:creationId xmlns:a16="http://schemas.microsoft.com/office/drawing/2014/main" id="{EB9C5D85-632D-BA93-D053-FCA28E37D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584" y="2301263"/>
            <a:ext cx="2480000" cy="2480000"/>
          </a:xfrm>
          <a:prstGeom prst="rect">
            <a:avLst/>
          </a:prstGeom>
        </p:spPr>
      </p:pic>
      <p:sp>
        <p:nvSpPr>
          <p:cNvPr id="22" name="Border">
            <a:extLst>
              <a:ext uri="{FF2B5EF4-FFF2-40B4-BE49-F238E27FC236}">
                <a16:creationId xmlns:a16="http://schemas.microsoft.com/office/drawing/2014/main" id="{84034885-4FB0-7614-97DB-8212C4B9140A}"/>
              </a:ext>
            </a:extLst>
          </p:cNvPr>
          <p:cNvSpPr/>
          <p:nvPr/>
        </p:nvSpPr>
        <p:spPr>
          <a:xfrm>
            <a:off x="783584" y="2301263"/>
            <a:ext cx="2480000" cy="2480000"/>
          </a:xfrm>
          <a:prstGeom prst="rect">
            <a:avLst/>
          </a:prstGeom>
          <a:ln w="9525">
            <a:solidFill>
              <a:srgbClr val="D8E2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Caption">
            <a:extLst>
              <a:ext uri="{FF2B5EF4-FFF2-40B4-BE49-F238E27FC236}">
                <a16:creationId xmlns:a16="http://schemas.microsoft.com/office/drawing/2014/main" id="{17FCC353-087C-B287-FEA7-4539F69315E9}"/>
              </a:ext>
            </a:extLst>
          </p:cNvPr>
          <p:cNvSpPr/>
          <p:nvPr/>
        </p:nvSpPr>
        <p:spPr>
          <a:xfrm>
            <a:off x="783584" y="4871263"/>
            <a:ext cx="2480000" cy="30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0.png — 512×512 reference</a:t>
            </a:r>
            <a:endParaRPr lang="en-US" sz="1000" dirty="0"/>
          </a:p>
        </p:txBody>
      </p:sp>
      <p:sp>
        <p:nvSpPr>
          <p:cNvPr id="24" name="Header">
            <a:extLst>
              <a:ext uri="{FF2B5EF4-FFF2-40B4-BE49-F238E27FC236}">
                <a16:creationId xmlns:a16="http://schemas.microsoft.com/office/drawing/2014/main" id="{9CE6CF8C-6066-E10C-70D2-DDACF6779888}"/>
              </a:ext>
            </a:extLst>
          </p:cNvPr>
          <p:cNvSpPr/>
          <p:nvPr/>
        </p:nvSpPr>
        <p:spPr>
          <a:xfrm>
            <a:off x="3498528" y="1921263"/>
            <a:ext cx="2480000" cy="32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TpV (Variational)</a:t>
            </a:r>
            <a:endParaRPr lang="en-US" sz="1300" dirty="0"/>
          </a:p>
        </p:txBody>
      </p:sp>
      <p:pic>
        <p:nvPicPr>
          <p:cNvPr id="25" name="Image 1">
            <a:extLst>
              <a:ext uri="{FF2B5EF4-FFF2-40B4-BE49-F238E27FC236}">
                <a16:creationId xmlns:a16="http://schemas.microsoft.com/office/drawing/2014/main" id="{D6A98052-6160-C703-B8F5-1BDC3D641D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98528" y="2301263"/>
            <a:ext cx="2480000" cy="2480000"/>
          </a:xfrm>
          <a:prstGeom prst="rect">
            <a:avLst/>
          </a:prstGeom>
        </p:spPr>
      </p:pic>
      <p:sp>
        <p:nvSpPr>
          <p:cNvPr id="26" name="Border">
            <a:extLst>
              <a:ext uri="{FF2B5EF4-FFF2-40B4-BE49-F238E27FC236}">
                <a16:creationId xmlns:a16="http://schemas.microsoft.com/office/drawing/2014/main" id="{8DD9F217-A5DA-7AFC-CAA1-C00CE9EA0522}"/>
              </a:ext>
            </a:extLst>
          </p:cNvPr>
          <p:cNvSpPr/>
          <p:nvPr/>
        </p:nvSpPr>
        <p:spPr>
          <a:xfrm>
            <a:off x="3498528" y="2301263"/>
            <a:ext cx="2480000" cy="2480000"/>
          </a:xfrm>
          <a:prstGeom prst="rect">
            <a:avLst/>
          </a:prstGeom>
          <a:ln w="9525">
            <a:solidFill>
              <a:srgbClr val="D8E2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Caption">
            <a:extLst>
              <a:ext uri="{FF2B5EF4-FFF2-40B4-BE49-F238E27FC236}">
                <a16:creationId xmlns:a16="http://schemas.microsoft.com/office/drawing/2014/main" id="{F8E87546-7FD5-584A-A7CF-0BBE2ED172F5}"/>
              </a:ext>
            </a:extLst>
          </p:cNvPr>
          <p:cNvSpPr/>
          <p:nvPr/>
        </p:nvSpPr>
        <p:spPr>
          <a:xfrm>
            <a:off x="3498528" y="4871263"/>
            <a:ext cx="2480000" cy="30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×4, σ=0.01, p = 0.4</a:t>
            </a:r>
            <a:endParaRPr lang="en-US" sz="1000" dirty="0"/>
          </a:p>
        </p:txBody>
      </p:sp>
      <p:sp>
        <p:nvSpPr>
          <p:cNvPr id="28" name="Caption">
            <a:extLst>
              <a:ext uri="{FF2B5EF4-FFF2-40B4-BE49-F238E27FC236}">
                <a16:creationId xmlns:a16="http://schemas.microsoft.com/office/drawing/2014/main" id="{08878777-5286-2293-9234-921E221BB336}"/>
              </a:ext>
            </a:extLst>
          </p:cNvPr>
          <p:cNvSpPr/>
          <p:nvPr/>
        </p:nvSpPr>
        <p:spPr>
          <a:xfrm>
            <a:off x="3498528" y="5171263"/>
            <a:ext cx="2480000" cy="28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27.06 dB | SSIM 0.7785</a:t>
            </a:r>
            <a:endParaRPr lang="en-US" sz="1000" dirty="0"/>
          </a:p>
        </p:txBody>
      </p:sp>
      <p:sp>
        <p:nvSpPr>
          <p:cNvPr id="29" name="Header">
            <a:extLst>
              <a:ext uri="{FF2B5EF4-FFF2-40B4-BE49-F238E27FC236}">
                <a16:creationId xmlns:a16="http://schemas.microsoft.com/office/drawing/2014/main" id="{EB455CC6-E10E-07B5-2533-E913D2C1EEF9}"/>
              </a:ext>
            </a:extLst>
          </p:cNvPr>
          <p:cNvSpPr/>
          <p:nvPr/>
        </p:nvSpPr>
        <p:spPr>
          <a:xfrm>
            <a:off x="6213472" y="1921263"/>
            <a:ext cx="2480000" cy="32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(End-to-End)</a:t>
            </a:r>
            <a:endParaRPr lang="en-US" sz="1300" dirty="0"/>
          </a:p>
        </p:txBody>
      </p:sp>
      <p:pic>
        <p:nvPicPr>
          <p:cNvPr id="30" name="Image 2">
            <a:extLst>
              <a:ext uri="{FF2B5EF4-FFF2-40B4-BE49-F238E27FC236}">
                <a16:creationId xmlns:a16="http://schemas.microsoft.com/office/drawing/2014/main" id="{E54AD4B6-3EA6-3342-890E-41A428F513B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13472" y="2301263"/>
            <a:ext cx="2480000" cy="2480000"/>
          </a:xfrm>
          <a:prstGeom prst="rect">
            <a:avLst/>
          </a:prstGeom>
        </p:spPr>
      </p:pic>
      <p:sp>
        <p:nvSpPr>
          <p:cNvPr id="31" name="Border">
            <a:extLst>
              <a:ext uri="{FF2B5EF4-FFF2-40B4-BE49-F238E27FC236}">
                <a16:creationId xmlns:a16="http://schemas.microsoft.com/office/drawing/2014/main" id="{485C2D6F-9634-3C87-84EC-38B3FAC0743C}"/>
              </a:ext>
            </a:extLst>
          </p:cNvPr>
          <p:cNvSpPr/>
          <p:nvPr/>
        </p:nvSpPr>
        <p:spPr>
          <a:xfrm>
            <a:off x="6213472" y="2301263"/>
            <a:ext cx="2480000" cy="2480000"/>
          </a:xfrm>
          <a:prstGeom prst="rect">
            <a:avLst/>
          </a:prstGeom>
          <a:ln w="9525">
            <a:solidFill>
              <a:srgbClr val="D8E2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Caption">
            <a:extLst>
              <a:ext uri="{FF2B5EF4-FFF2-40B4-BE49-F238E27FC236}">
                <a16:creationId xmlns:a16="http://schemas.microsoft.com/office/drawing/2014/main" id="{C0017F59-8BC9-1DD4-4D42-077C65AB45AA}"/>
              </a:ext>
            </a:extLst>
          </p:cNvPr>
          <p:cNvSpPr/>
          <p:nvPr/>
        </p:nvSpPr>
        <p:spPr>
          <a:xfrm>
            <a:off x="6213472" y="4871263"/>
            <a:ext cx="2480000" cy="30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×4, σ=0.01</a:t>
            </a:r>
            <a:endParaRPr lang="en-US" sz="1000" dirty="0"/>
          </a:p>
        </p:txBody>
      </p:sp>
      <p:sp>
        <p:nvSpPr>
          <p:cNvPr id="33" name="Caption">
            <a:extLst>
              <a:ext uri="{FF2B5EF4-FFF2-40B4-BE49-F238E27FC236}">
                <a16:creationId xmlns:a16="http://schemas.microsoft.com/office/drawing/2014/main" id="{D8CEBDDD-998E-0708-A591-5C75D7AF5E14}"/>
              </a:ext>
            </a:extLst>
          </p:cNvPr>
          <p:cNvSpPr/>
          <p:nvPr/>
        </p:nvSpPr>
        <p:spPr>
          <a:xfrm>
            <a:off x="6213472" y="5171263"/>
            <a:ext cx="2480000" cy="28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33.74 dB | SSIM 0.9139</a:t>
            </a:r>
            <a:endParaRPr lang="en-US" sz="1000" dirty="0"/>
          </a:p>
        </p:txBody>
      </p:sp>
      <p:sp>
        <p:nvSpPr>
          <p:cNvPr id="34" name="Header">
            <a:extLst>
              <a:ext uri="{FF2B5EF4-FFF2-40B4-BE49-F238E27FC236}">
                <a16:creationId xmlns:a16="http://schemas.microsoft.com/office/drawing/2014/main" id="{6F219502-503C-81EA-9E0C-5BBA1833ECA3}"/>
              </a:ext>
            </a:extLst>
          </p:cNvPr>
          <p:cNvSpPr/>
          <p:nvPr/>
        </p:nvSpPr>
        <p:spPr>
          <a:xfrm>
            <a:off x="8928416" y="1921263"/>
            <a:ext cx="2480000" cy="32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 + DPS (Generative)</a:t>
            </a:r>
            <a:endParaRPr lang="en-US" sz="1300" dirty="0"/>
          </a:p>
        </p:txBody>
      </p:sp>
      <p:pic>
        <p:nvPicPr>
          <p:cNvPr id="35" name="Image 3">
            <a:extLst>
              <a:ext uri="{FF2B5EF4-FFF2-40B4-BE49-F238E27FC236}">
                <a16:creationId xmlns:a16="http://schemas.microsoft.com/office/drawing/2014/main" id="{17A76932-F8CE-9857-94A4-3015BF54E84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7120" t="12315" r="1245" b="12642"/>
          <a:stretch>
            <a:fillRect/>
          </a:stretch>
        </p:blipFill>
        <p:spPr>
          <a:xfrm>
            <a:off x="8941209" y="2301263"/>
            <a:ext cx="2467207" cy="2480000"/>
          </a:xfrm>
          <a:prstGeom prst="rect">
            <a:avLst/>
          </a:prstGeom>
        </p:spPr>
      </p:pic>
      <p:sp>
        <p:nvSpPr>
          <p:cNvPr id="36" name="Border">
            <a:extLst>
              <a:ext uri="{FF2B5EF4-FFF2-40B4-BE49-F238E27FC236}">
                <a16:creationId xmlns:a16="http://schemas.microsoft.com/office/drawing/2014/main" id="{11071E52-9073-277C-F8AB-C8D1D0AEA189}"/>
              </a:ext>
            </a:extLst>
          </p:cNvPr>
          <p:cNvSpPr/>
          <p:nvPr/>
        </p:nvSpPr>
        <p:spPr>
          <a:xfrm>
            <a:off x="8928416" y="2301263"/>
            <a:ext cx="2480000" cy="2480000"/>
          </a:xfrm>
          <a:prstGeom prst="rect">
            <a:avLst/>
          </a:prstGeom>
          <a:ln w="9525">
            <a:solidFill>
              <a:srgbClr val="D8E2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Caption">
            <a:extLst>
              <a:ext uri="{FF2B5EF4-FFF2-40B4-BE49-F238E27FC236}">
                <a16:creationId xmlns:a16="http://schemas.microsoft.com/office/drawing/2014/main" id="{F7FB797C-AB90-B697-8A2D-0831913FE5AA}"/>
              </a:ext>
            </a:extLst>
          </p:cNvPr>
          <p:cNvSpPr/>
          <p:nvPr/>
        </p:nvSpPr>
        <p:spPr>
          <a:xfrm>
            <a:off x="8928416" y="4871263"/>
            <a:ext cx="2480000" cy="30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×4, σ=0.01</a:t>
            </a:r>
            <a:endParaRPr lang="en-US" sz="1000" dirty="0"/>
          </a:p>
        </p:txBody>
      </p:sp>
      <p:sp>
        <p:nvSpPr>
          <p:cNvPr id="38" name="Caption">
            <a:extLst>
              <a:ext uri="{FF2B5EF4-FFF2-40B4-BE49-F238E27FC236}">
                <a16:creationId xmlns:a16="http://schemas.microsoft.com/office/drawing/2014/main" id="{A94AA6DD-859E-F5A3-38A3-5B96E6A09A8B}"/>
              </a:ext>
            </a:extLst>
          </p:cNvPr>
          <p:cNvSpPr/>
          <p:nvPr/>
        </p:nvSpPr>
        <p:spPr>
          <a:xfrm>
            <a:off x="8928416" y="5171263"/>
            <a:ext cx="2480000" cy="28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20.24 dB | SSIM 0.5909</a:t>
            </a:r>
            <a:endParaRPr lang="en-US" sz="10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CAB4A5E5-D501-A3F6-E164-DA2693DD7FA8}"/>
              </a:ext>
            </a:extLst>
          </p:cNvPr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H  |  Computational Imaging 2025-26</a:t>
            </a:r>
            <a:endParaRPr lang="en-US" sz="9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FA92F34F-FA4B-2FCF-751E-DF27188844AA}"/>
              </a:ext>
            </a:extLst>
          </p:cNvPr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object 9">
            <a:extLst>
              <a:ext uri="{FF2B5EF4-FFF2-40B4-BE49-F238E27FC236}">
                <a16:creationId xmlns:a16="http://schemas.microsoft.com/office/drawing/2014/main" id="{BABEF0A8-5EA1-4ED3-CE6A-BD6352C280C4}"/>
              </a:ext>
            </a:extLst>
          </p:cNvPr>
          <p:cNvSpPr/>
          <p:nvPr/>
        </p:nvSpPr>
        <p:spPr>
          <a:xfrm>
            <a:off x="10790026" y="0"/>
            <a:ext cx="1391920" cy="93610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07447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4114800"/>
          </a:xfrm>
          <a:prstGeom prst="roundRect">
            <a:avLst>
              <a:gd name="adj" fmla="val 2667"/>
            </a:avLst>
          </a:prstGeom>
          <a:solidFill>
            <a:srgbClr val="E8F1F2"/>
          </a:solidFill>
          <a:ln w="12700">
            <a:solidFill>
              <a:srgbClr val="CFE0E3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H  |  Computational Imaging 2025-26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1F8CE4D6-E6C4-1580-9624-DB3E2B9D5886}"/>
              </a:ext>
            </a:extLst>
          </p:cNvPr>
          <p:cNvSpPr/>
          <p:nvPr/>
        </p:nvSpPr>
        <p:spPr>
          <a:xfrm>
            <a:off x="10790026" y="0"/>
            <a:ext cx="1391920" cy="9361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34E17159-8710-3C1D-2E5F-6BBE96E595CE}"/>
              </a:ext>
            </a:extLst>
          </p:cNvPr>
          <p:cNvSpPr/>
          <p:nvPr/>
        </p:nvSpPr>
        <p:spPr>
          <a:xfrm>
            <a:off x="1124992" y="1727825"/>
            <a:ext cx="9911536" cy="10800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U-Net (End-to-End) </a:t>
            </a:r>
            <a:r>
              <a:rPr lang="it-IT" dirty="0" err="1"/>
              <a:t>is</a:t>
            </a:r>
            <a:r>
              <a:rPr lang="it-IT" dirty="0"/>
              <a:t> the best-</a:t>
            </a:r>
            <a:r>
              <a:rPr lang="it-IT" dirty="0" err="1"/>
              <a:t>performing</a:t>
            </a:r>
            <a:r>
              <a:rPr lang="it-IT" dirty="0"/>
              <a:t> </a:t>
            </a:r>
            <a:r>
              <a:rPr lang="it-IT" dirty="0" err="1"/>
              <a:t>method</a:t>
            </a:r>
            <a:r>
              <a:rPr lang="it-IT" dirty="0"/>
              <a:t> overall: PSNR </a:t>
            </a:r>
            <a:r>
              <a:rPr lang="it-IT" dirty="0" err="1"/>
              <a:t>ranging</a:t>
            </a:r>
            <a:r>
              <a:rPr lang="it-IT" dirty="0"/>
              <a:t> from 33 dB to </a:t>
            </a:r>
            <a:r>
              <a:rPr lang="it-IT" dirty="0" err="1"/>
              <a:t>nearly</a:t>
            </a:r>
            <a:r>
              <a:rPr lang="it-IT" dirty="0"/>
              <a:t> 40 dB, with SSIM </a:t>
            </a:r>
            <a:r>
              <a:rPr lang="it-IT" dirty="0" err="1"/>
              <a:t>consistently</a:t>
            </a:r>
            <a:r>
              <a:rPr lang="it-IT" dirty="0"/>
              <a:t> </a:t>
            </a:r>
            <a:r>
              <a:rPr lang="it-IT" dirty="0" err="1"/>
              <a:t>above</a:t>
            </a:r>
            <a:r>
              <a:rPr lang="it-IT" dirty="0"/>
              <a:t> 0.91 — </a:t>
            </a:r>
            <a:r>
              <a:rPr lang="it-IT" dirty="0" err="1"/>
              <a:t>clearly</a:t>
            </a:r>
            <a:r>
              <a:rPr lang="it-IT" dirty="0"/>
              <a:t> </a:t>
            </a:r>
            <a:r>
              <a:rPr lang="it-IT" dirty="0" err="1"/>
              <a:t>outperforming</a:t>
            </a:r>
            <a:r>
              <a:rPr lang="it-IT" dirty="0"/>
              <a:t> the </a:t>
            </a:r>
            <a:r>
              <a:rPr lang="it-IT" dirty="0" err="1"/>
              <a:t>other</a:t>
            </a:r>
            <a:r>
              <a:rPr lang="it-IT" dirty="0"/>
              <a:t> </a:t>
            </a:r>
            <a:r>
              <a:rPr lang="it-IT" dirty="0" err="1"/>
              <a:t>two</a:t>
            </a:r>
            <a:r>
              <a:rPr lang="it-IT" dirty="0"/>
              <a:t> </a:t>
            </a:r>
            <a:r>
              <a:rPr lang="it-IT" dirty="0" err="1"/>
              <a:t>methods</a:t>
            </a:r>
            <a:r>
              <a:rPr lang="it-IT" dirty="0"/>
              <a:t> in </a:t>
            </a:r>
            <a:r>
              <a:rPr lang="it-IT" dirty="0" err="1"/>
              <a:t>every</a:t>
            </a:r>
            <a:r>
              <a:rPr lang="it-IT" dirty="0"/>
              <a:t> </a:t>
            </a:r>
            <a:r>
              <a:rPr lang="it-IT" dirty="0" err="1"/>
              <a:t>configuration</a:t>
            </a:r>
            <a:r>
              <a:rPr lang="it-IT" dirty="0"/>
              <a:t> </a:t>
            </a:r>
            <a:r>
              <a:rPr lang="it-IT" dirty="0" err="1"/>
              <a:t>tested</a:t>
            </a:r>
            <a:r>
              <a:rPr lang="it-IT" dirty="0"/>
              <a:t>.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07421D32-D4CC-321E-320D-8FF93EFCE6A5}"/>
              </a:ext>
            </a:extLst>
          </p:cNvPr>
          <p:cNvSpPr/>
          <p:nvPr/>
        </p:nvSpPr>
        <p:spPr>
          <a:xfrm>
            <a:off x="1138708" y="2979993"/>
            <a:ext cx="9911536" cy="10800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TpV</a:t>
            </a:r>
            <a:r>
              <a:rPr lang="it-IT" dirty="0"/>
              <a:t> (</a:t>
            </a:r>
            <a:r>
              <a:rPr lang="it-IT" dirty="0" err="1"/>
              <a:t>Variational</a:t>
            </a:r>
            <a:r>
              <a:rPr lang="it-IT" dirty="0"/>
              <a:t>) </a:t>
            </a:r>
            <a:r>
              <a:rPr lang="it-IT" dirty="0" err="1"/>
              <a:t>is</a:t>
            </a:r>
            <a:r>
              <a:rPr lang="it-IT" dirty="0"/>
              <a:t> a </a:t>
            </a:r>
            <a:r>
              <a:rPr lang="it-IT" dirty="0" err="1"/>
              <a:t>solid</a:t>
            </a:r>
            <a:r>
              <a:rPr lang="it-IT" dirty="0"/>
              <a:t> runner-up: </a:t>
            </a:r>
            <a:r>
              <a:rPr lang="it-IT" dirty="0" err="1"/>
              <a:t>it</a:t>
            </a:r>
            <a:r>
              <a:rPr lang="it-IT" dirty="0"/>
              <a:t> stays </a:t>
            </a:r>
            <a:r>
              <a:rPr lang="it-IT" dirty="0" err="1"/>
              <a:t>within</a:t>
            </a:r>
            <a:r>
              <a:rPr lang="it-IT" dirty="0"/>
              <a:t> ~6 dB of U-Net </a:t>
            </a:r>
            <a:r>
              <a:rPr lang="it-IT" dirty="0" err="1"/>
              <a:t>despite</a:t>
            </a:r>
            <a:r>
              <a:rPr lang="it-IT" dirty="0"/>
              <a:t> </a:t>
            </a:r>
            <a:r>
              <a:rPr lang="it-IT" dirty="0" err="1"/>
              <a:t>using</a:t>
            </a:r>
            <a:r>
              <a:rPr lang="it-IT" dirty="0"/>
              <a:t> no training data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all</a:t>
            </a:r>
            <a:r>
              <a:rPr lang="it-IT" dirty="0"/>
              <a:t> — a </a:t>
            </a:r>
            <a:r>
              <a:rPr lang="it-IT" dirty="0" err="1"/>
              <a:t>notable</a:t>
            </a:r>
            <a:r>
              <a:rPr lang="it-IT" dirty="0"/>
              <a:t> </a:t>
            </a:r>
            <a:r>
              <a:rPr lang="it-IT" dirty="0" err="1"/>
              <a:t>result</a:t>
            </a:r>
            <a:r>
              <a:rPr lang="it-IT" dirty="0"/>
              <a:t> for a </a:t>
            </a:r>
            <a:r>
              <a:rPr lang="it-IT" dirty="0" err="1"/>
              <a:t>purely</a:t>
            </a:r>
            <a:r>
              <a:rPr lang="it-IT" dirty="0"/>
              <a:t> model-</a:t>
            </a:r>
            <a:r>
              <a:rPr lang="it-IT" dirty="0" err="1"/>
              <a:t>based</a:t>
            </a:r>
            <a:r>
              <a:rPr lang="it-IT" dirty="0"/>
              <a:t> </a:t>
            </a:r>
            <a:r>
              <a:rPr lang="it-IT" dirty="0" err="1"/>
              <a:t>method</a:t>
            </a:r>
            <a:r>
              <a:rPr lang="it-IT" dirty="0"/>
              <a:t>.</a:t>
            </a:r>
          </a:p>
          <a:p>
            <a:pPr algn="ctr"/>
            <a:endParaRPr lang="it-IT" dirty="0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00439CA0-0C43-6862-BE2C-F4F6CD836D58}"/>
              </a:ext>
            </a:extLst>
          </p:cNvPr>
          <p:cNvSpPr/>
          <p:nvPr/>
        </p:nvSpPr>
        <p:spPr>
          <a:xfrm>
            <a:off x="1124992" y="4236788"/>
            <a:ext cx="9911536" cy="10800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GAN + DPS (Generative) </a:t>
            </a:r>
            <a:r>
              <a:rPr lang="it-IT" dirty="0" err="1"/>
              <a:t>is</a:t>
            </a:r>
            <a:r>
              <a:rPr lang="it-IT" dirty="0"/>
              <a:t> the </a:t>
            </a:r>
            <a:r>
              <a:rPr lang="it-IT" dirty="0" err="1"/>
              <a:t>weakest</a:t>
            </a:r>
            <a:r>
              <a:rPr lang="it-IT" dirty="0"/>
              <a:t> </a:t>
            </a:r>
            <a:r>
              <a:rPr lang="it-IT" dirty="0" err="1"/>
              <a:t>method</a:t>
            </a:r>
            <a:r>
              <a:rPr lang="it-IT" dirty="0"/>
              <a:t> (~20 dB PSNR), </a:t>
            </a:r>
            <a:r>
              <a:rPr lang="it-IT" dirty="0" err="1"/>
              <a:t>producing</a:t>
            </a:r>
            <a:r>
              <a:rPr lang="it-IT" dirty="0"/>
              <a:t> </a:t>
            </a:r>
            <a:r>
              <a:rPr lang="it-IT" dirty="0" err="1"/>
              <a:t>overly</a:t>
            </a:r>
            <a:r>
              <a:rPr lang="it-IT" dirty="0"/>
              <a:t> </a:t>
            </a:r>
            <a:r>
              <a:rPr lang="it-IT" dirty="0" err="1"/>
              <a:t>smooth</a:t>
            </a:r>
            <a:r>
              <a:rPr lang="it-IT" dirty="0"/>
              <a:t> </a:t>
            </a:r>
            <a:r>
              <a:rPr lang="it-IT" dirty="0" err="1"/>
              <a:t>reconstructions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lose</a:t>
            </a:r>
            <a:r>
              <a:rPr lang="it-IT" dirty="0"/>
              <a:t> fine texture </a:t>
            </a:r>
            <a:r>
              <a:rPr lang="it-IT" dirty="0" err="1"/>
              <a:t>detail</a:t>
            </a:r>
            <a:r>
              <a:rPr lang="it-IT" dirty="0"/>
              <a:t>: the </a:t>
            </a:r>
            <a:r>
              <a:rPr lang="it-IT" dirty="0" err="1"/>
              <a:t>bottleneck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the </a:t>
            </a:r>
            <a:r>
              <a:rPr lang="it-IT" dirty="0" err="1"/>
              <a:t>expressiveness</a:t>
            </a:r>
            <a:r>
              <a:rPr lang="it-IT" dirty="0"/>
              <a:t> of the </a:t>
            </a:r>
            <a:r>
              <a:rPr lang="it-IT" dirty="0" err="1"/>
              <a:t>frozen</a:t>
            </a:r>
            <a:r>
              <a:rPr lang="it-IT" dirty="0"/>
              <a:t> generator, </a:t>
            </a:r>
            <a:r>
              <a:rPr lang="it-IT" dirty="0" err="1"/>
              <a:t>not</a:t>
            </a:r>
            <a:r>
              <a:rPr lang="it-IT" dirty="0"/>
              <a:t> the </a:t>
            </a:r>
            <a:r>
              <a:rPr lang="it-IT" dirty="0" err="1"/>
              <a:t>severity</a:t>
            </a:r>
            <a:r>
              <a:rPr lang="it-IT" dirty="0"/>
              <a:t> of the </a:t>
            </a:r>
            <a:r>
              <a:rPr lang="it-IT" dirty="0" err="1"/>
              <a:t>degradation</a:t>
            </a:r>
            <a:r>
              <a:rPr lang="it-IT" dirty="0"/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Bibliography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4114800"/>
          </a:xfrm>
          <a:prstGeom prst="roundRect">
            <a:avLst>
              <a:gd name="adj" fmla="val 2667"/>
            </a:avLst>
          </a:prstGeom>
          <a:solidFill>
            <a:srgbClr val="E8F1F2"/>
          </a:solidFill>
          <a:ln w="12700">
            <a:solidFill>
              <a:srgbClr val="CFE0E3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completed with references used for the project.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H  |  Computational Imaging 2025-26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3F5CF034-406E-2263-4B8F-9C4F4343E403}"/>
              </a:ext>
            </a:extLst>
          </p:cNvPr>
          <p:cNvSpPr/>
          <p:nvPr/>
        </p:nvSpPr>
        <p:spPr>
          <a:xfrm>
            <a:off x="10790026" y="0"/>
            <a:ext cx="1391920" cy="9361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664</TotalTime>
  <Words>2498</Words>
  <Application>Microsoft Office PowerPoint</Application>
  <PresentationFormat>Widescreen</PresentationFormat>
  <Paragraphs>394</Paragraphs>
  <Slides>24</Slides>
  <Notes>19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24</vt:i4>
      </vt:variant>
    </vt:vector>
  </HeadingPairs>
  <TitlesOfParts>
    <vt:vector size="29" baseType="lpstr">
      <vt:lpstr>Arial</vt:lpstr>
      <vt:lpstr>Calibri</vt:lpstr>
      <vt:lpstr>Cambria</vt:lpstr>
      <vt:lpstr>Century Gothic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Super-Resolution of CT Images - Computational Imaging Project</dc:title>
  <dc:subject>PptxGenJS Presentation</dc:subject>
  <dc:creator>Group H</dc:creator>
  <cp:lastModifiedBy>PIETRO CIMINO</cp:lastModifiedBy>
  <cp:revision>10</cp:revision>
  <dcterms:created xsi:type="dcterms:W3CDTF">2026-07-08T20:35:29Z</dcterms:created>
  <dcterms:modified xsi:type="dcterms:W3CDTF">2026-07-12T22:40:17Z</dcterms:modified>
</cp:coreProperties>
</file>