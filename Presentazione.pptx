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9" r:id="rId6"/>
    <p:sldId id="280" r:id="rId7"/>
    <p:sldId id="260" r:id="rId8"/>
    <p:sldId id="265" r:id="rId9"/>
    <p:sldId id="266" r:id="rId10"/>
    <p:sldId id="267" r:id="rId11"/>
    <p:sldId id="262" r:id="rId12"/>
    <p:sldId id="263" r:id="rId13"/>
    <p:sldId id="264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1166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9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8482-3F3C-7D5B-CAD9-8D31338B3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F9D83-7BB0-AA34-921E-1FA7C2F91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9A2FF-2424-9FC5-F009-5014D7DDA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70F0-1AE9-7D13-5EFC-0C2F4F206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33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A805-D755-FE38-04F4-1C89BB14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AEB87-5064-9BD8-E858-19BDE131A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38D01-19FB-8D21-41A1-5B184490E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FD56E-0C62-408B-F622-7032064A0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7">
            <a:extLst>
              <a:ext uri="{FF2B5EF4-FFF2-40B4-BE49-F238E27FC236}">
                <a16:creationId xmlns:a16="http://schemas.microsoft.com/office/drawing/2014/main" id="{C43381AF-B511-A6A3-32B7-3D0A40F2F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2B0A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05ECD1E4-2FD5-2A62-BF2D-A5428712332B}"/>
              </a:ext>
            </a:extLst>
          </p:cNvPr>
          <p:cNvSpPr/>
          <p:nvPr/>
        </p:nvSpPr>
        <p:spPr>
          <a:xfrm>
            <a:off x="4367784" y="188595"/>
            <a:ext cx="0" cy="6408762"/>
          </a:xfrm>
          <a:custGeom>
            <a:avLst/>
            <a:gdLst/>
            <a:ahLst/>
            <a:cxnLst/>
            <a:rect l="l" t="t" r="r" b="b"/>
            <a:pathLst>
              <a:path h="6408762">
                <a:moveTo>
                  <a:pt x="0" y="0"/>
                </a:moveTo>
                <a:lnTo>
                  <a:pt x="0" y="6408762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F5F65DC1-EED7-75A5-CC68-72A6A1BC4E22}"/>
              </a:ext>
            </a:extLst>
          </p:cNvPr>
          <p:cNvSpPr/>
          <p:nvPr/>
        </p:nvSpPr>
        <p:spPr>
          <a:xfrm>
            <a:off x="402120" y="1700783"/>
            <a:ext cx="3461639" cy="24483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24EAD2A3-E001-DF58-1BB5-2F3E7407ACDF}"/>
              </a:ext>
            </a:extLst>
          </p:cNvPr>
          <p:cNvSpPr txBox="1"/>
          <p:nvPr/>
        </p:nvSpPr>
        <p:spPr>
          <a:xfrm>
            <a:off x="5965698" y="1013662"/>
            <a:ext cx="4521486" cy="103129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lang="it-IT" sz="3600" b="1" dirty="0" err="1">
                <a:solidFill>
                  <a:schemeClr val="bg1"/>
                </a:solidFill>
              </a:rPr>
              <a:t>Computational</a:t>
            </a:r>
            <a:r>
              <a:rPr lang="it-IT" sz="3600" b="1" dirty="0">
                <a:solidFill>
                  <a:schemeClr val="bg1"/>
                </a:solidFill>
              </a:rPr>
              <a:t> Imaging for </a:t>
            </a:r>
            <a:r>
              <a:rPr lang="it-IT" sz="3600" b="1" dirty="0" err="1">
                <a:solidFill>
                  <a:schemeClr val="bg1"/>
                </a:solidFill>
              </a:rPr>
              <a:t>Medical</a:t>
            </a:r>
            <a:r>
              <a:rPr lang="it-IT" sz="3600" b="1" dirty="0">
                <a:solidFill>
                  <a:schemeClr val="bg1"/>
                </a:solidFill>
              </a:rPr>
              <a:t> Image Super-</a:t>
            </a:r>
            <a:r>
              <a:rPr lang="it-IT" sz="3600" b="1" dirty="0" err="1">
                <a:solidFill>
                  <a:schemeClr val="bg1"/>
                </a:solidFill>
              </a:rPr>
              <a:t>Resolution</a:t>
            </a:r>
            <a:endParaRPr lang="it-IT" sz="3600" b="1" spc="0" dirty="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AA77F6C5-2F2A-5314-C5CA-CE3782B4F944}"/>
              </a:ext>
            </a:extLst>
          </p:cNvPr>
          <p:cNvSpPr txBox="1"/>
          <p:nvPr/>
        </p:nvSpPr>
        <p:spPr>
          <a:xfrm>
            <a:off x="5558790" y="3538041"/>
            <a:ext cx="5795006" cy="114102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Computational </a:t>
            </a:r>
            <a:r>
              <a:rPr lang="it-IT"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sz="3600" b="1" spc="0" dirty="0" err="1">
                <a:solidFill>
                  <a:srgbClr val="FFFFFF"/>
                </a:solidFill>
                <a:latin typeface="Century Gothic"/>
                <a:cs typeface="Century Gothic"/>
              </a:rPr>
              <a:t>maging</a:t>
            </a:r>
            <a:endParaRPr sz="3600" dirty="0">
              <a:latin typeface="Century Gothic"/>
              <a:cs typeface="Century Gothic"/>
            </a:endParaRPr>
          </a:p>
          <a:p>
            <a:pPr marL="1739877" marR="1774468" algn="ctr">
              <a:lnSpc>
                <a:spcPts val="4370"/>
              </a:lnSpc>
              <a:spcBef>
                <a:spcPts val="796"/>
              </a:spcBef>
            </a:pP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2025-</a:t>
            </a:r>
            <a:r>
              <a:rPr lang="it-IT"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</a:t>
            </a: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26</a:t>
            </a:r>
            <a:endParaRPr sz="3600" dirty="0">
              <a:latin typeface="Century Gothic"/>
              <a:cs typeface="Century Gothic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7144A8B-849C-DD48-70C2-16885B8824CF}"/>
              </a:ext>
            </a:extLst>
          </p:cNvPr>
          <p:cNvSpPr txBox="1"/>
          <p:nvPr/>
        </p:nvSpPr>
        <p:spPr>
          <a:xfrm>
            <a:off x="4446065" y="5260167"/>
            <a:ext cx="3634358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Professors</a:t>
            </a: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Elena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Loli Piccolomin</a:t>
            </a:r>
            <a:r>
              <a:rPr sz="2400" b="1" spc="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Davide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Evangelista</a:t>
            </a:r>
            <a:endParaRPr sz="2400" dirty="0">
              <a:latin typeface="Century Gothic"/>
              <a:cs typeface="Century Gothic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97BDD4C-66FD-F7A8-82BC-C45342395931}"/>
              </a:ext>
            </a:extLst>
          </p:cNvPr>
          <p:cNvSpPr txBox="1"/>
          <p:nvPr/>
        </p:nvSpPr>
        <p:spPr>
          <a:xfrm>
            <a:off x="453076" y="5388207"/>
            <a:ext cx="3461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par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t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imento</a:t>
            </a:r>
            <a:r>
              <a:rPr lang="it-IT" spc="-3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di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nf</a:t>
            </a:r>
            <a:r>
              <a:rPr lang="it-IT" spc="-4" dirty="0">
                <a:solidFill>
                  <a:srgbClr val="FFFFFF"/>
                </a:solidFill>
                <a:latin typeface="Century Gothic"/>
                <a:cs typeface="Century Gothic"/>
              </a:rPr>
              <a:t>o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rmatica</a:t>
            </a:r>
            <a:r>
              <a:rPr lang="it-IT" spc="-2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-</a:t>
            </a:r>
            <a:r>
              <a:rPr lang="it-IT" spc="551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Sc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</a:t>
            </a:r>
            <a:r>
              <a:rPr lang="it-IT" spc="4" dirty="0">
                <a:solidFill>
                  <a:srgbClr val="FFFFFF"/>
                </a:solidFill>
                <a:latin typeface="Century Gothic"/>
                <a:cs typeface="Century Gothic"/>
              </a:rPr>
              <a:t>n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za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ngegneria</a:t>
            </a:r>
            <a:r>
              <a:rPr lang="it-IT" spc="-2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spc="-44" dirty="0">
                <a:solidFill>
                  <a:srgbClr val="FFFFFF"/>
                </a:solidFill>
                <a:latin typeface="Century Gothic"/>
                <a:cs typeface="Century Gothic"/>
              </a:rPr>
              <a:t>(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)</a:t>
            </a:r>
            <a:endParaRPr lang="it-IT" dirty="0">
              <a:latin typeface="Century Gothic"/>
              <a:cs typeface="Century Gothic"/>
            </a:endParaRPr>
          </a:p>
          <a:p>
            <a:endParaRPr lang="it-IT" dirty="0"/>
          </a:p>
        </p:txBody>
      </p:sp>
      <p:sp>
        <p:nvSpPr>
          <p:cNvPr id="22" name="object 2">
            <a:extLst>
              <a:ext uri="{FF2B5EF4-FFF2-40B4-BE49-F238E27FC236}">
                <a16:creationId xmlns:a16="http://schemas.microsoft.com/office/drawing/2014/main" id="{F1C0B743-5B21-CDE4-94B1-ABA2BCCDCF6C}"/>
              </a:ext>
            </a:extLst>
          </p:cNvPr>
          <p:cNvSpPr txBox="1"/>
          <p:nvPr/>
        </p:nvSpPr>
        <p:spPr>
          <a:xfrm>
            <a:off x="9525000" y="5260167"/>
            <a:ext cx="2404625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Gruppo H</a:t>
            </a:r>
            <a:endParaRPr lang="it-IT" sz="2400" b="1" spc="0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Pietro Cimino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Mattia Boffa</a:t>
            </a:r>
            <a:endParaRPr sz="24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 of the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CT image super-resolution as an inverse problem, comparing classical (model-based) and modern (learning-based) reconstruction methods under the same experimental conditions.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5763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dataset (CT slices), grayscale images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resized to 256×256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/ validation (85% / 15%, random_state=42) / test sets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67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K(x) + 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6656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: high-resolution ground-truth image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: downscaling operator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: additive Gaussian noise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 degraded low-resolution observation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0" y="43434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parameters tested: scale: 2, 4  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level: 0.005, 0.01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0BDACF45-A828-D3D2-C7B9-FC359B73E42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two-student group, three of the four required method families were implemented (variational, end-to-end, generative).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3678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p-Variation (TpV)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Chambolle-Pock algorithm, unconstrained TpV regularization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parameter λ and exponent p ∈ {0.1, 0.4}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iterations for configuration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λ, p and noise level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with PixelShuffle upsampling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gates fuse skip connections with decoder features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formulation: predicts noise, x_hat = y − f(y)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weighted MSE + Fourier-domain loss + SSIM loss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45C4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36676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5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DPS-inspired inversion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optimize latent z of the frozen generator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- y||² / (2σ²), 1000 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object 9">
            <a:extLst>
              <a:ext uri="{FF2B5EF4-FFF2-40B4-BE49-F238E27FC236}">
                <a16:creationId xmlns:a16="http://schemas.microsoft.com/office/drawing/2014/main" id="{DC92C468-708A-B4E8-FC11-A45746A788B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MayoDataset class: loads grayscale PNGs, resizes to 256×256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observation built with IPPy DownScaling operator + injected Gaussian noise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U-Net, the LR image is resized back to 256×256 before being fed to the network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935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MyTrainer class: training/validation loop, best-model saving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losses and metrics to JSON, saves training/validation loss plots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evaluation for all methods: PSNR and SSIM (IPPy.utilities.metrics)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1887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 — Training 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182880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64 → 128 → 256 → 512 (encoder/bottleneck)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Decoder: Attention Gates + PixelShuffle upsampling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0.8·MSE + 1·FourierLoss + 1·SSIMLoss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Adam, lr = 5e-4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CosineAnnealingLR (T_max = 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batch size 32, best model saved on validation loss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— Training Setup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4160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Adam: lr 3e-4 (G) / 5e-5 (critic)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epochs, batch size 32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4213D764-853F-7BA5-CD6D-A861A26E3331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9453D-EA3A-63B9-DF08-6D235AA9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7A83FE-6564-7336-F6DE-6D6FDE63F109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End-to-End (</a:t>
            </a: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UNet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44CB0C0-9D53-682B-12F4-A147C4E071B2}"/>
              </a:ext>
            </a:extLst>
          </p:cNvPr>
          <p:cNvSpPr/>
          <p:nvPr/>
        </p:nvSpPr>
        <p:spPr>
          <a:xfrm>
            <a:off x="7847044" y="2080727"/>
            <a:ext cx="3765835" cy="2519266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9B2548-DAA5-B591-50C5-1B2477044CB1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F8C4B5-C65A-96D3-C690-899559ADCDC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B4945181-9977-C021-AAFF-457F43964A9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97051B9-9DC9-8CFB-21D6-BA6956095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73085"/>
            <a:ext cx="6835081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F25FE3E0-915E-0631-47AD-BE5A70B7F6FB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U-Net </a:t>
            </a:r>
            <a:r>
              <a:rPr lang="it-IT" sz="1400" b="1" dirty="0" err="1"/>
              <a:t>architecture</a:t>
            </a:r>
            <a:r>
              <a:rPr lang="it-IT" sz="1400" b="1" dirty="0"/>
              <a:t> with </a:t>
            </a:r>
            <a:r>
              <a:rPr lang="it-IT" sz="1400" b="1" dirty="0" err="1"/>
              <a:t>Attention</a:t>
            </a:r>
            <a:r>
              <a:rPr lang="it-IT" sz="1400" b="1" dirty="0"/>
              <a:t> Gates </a:t>
            </a:r>
            <a:r>
              <a:rPr lang="it-IT" sz="1400" dirty="0"/>
              <a:t>for image </a:t>
            </a:r>
            <a:r>
              <a:rPr lang="it-IT" sz="1400" dirty="0" err="1"/>
              <a:t>reconstruction</a:t>
            </a:r>
            <a:r>
              <a:rPr lang="it-IT" sz="1400" dirty="0"/>
              <a:t>. The encoder </a:t>
            </a:r>
            <a:r>
              <a:rPr lang="it-IT" sz="1400" dirty="0" err="1"/>
              <a:t>extracts</a:t>
            </a:r>
            <a:r>
              <a:rPr lang="it-IT" sz="1400" dirty="0"/>
              <a:t> multi-scale features, </a:t>
            </a:r>
            <a:r>
              <a:rPr lang="it-IT" sz="1400" dirty="0" err="1"/>
              <a:t>while</a:t>
            </a:r>
            <a:r>
              <a:rPr lang="it-IT" sz="1400" dirty="0"/>
              <a:t> the decoder </a:t>
            </a:r>
            <a:r>
              <a:rPr lang="it-IT" sz="1400" dirty="0" err="1"/>
              <a:t>reconstructs</a:t>
            </a:r>
            <a:r>
              <a:rPr lang="it-IT" sz="1400" dirty="0"/>
              <a:t> the image </a:t>
            </a:r>
            <a:r>
              <a:rPr lang="it-IT" sz="1400" dirty="0" err="1"/>
              <a:t>using</a:t>
            </a:r>
            <a:r>
              <a:rPr lang="it-IT" sz="1400" dirty="0"/>
              <a:t> skip connections and </a:t>
            </a:r>
            <a:r>
              <a:rPr lang="it-IT" sz="1400" dirty="0" err="1"/>
              <a:t>attention</a:t>
            </a:r>
            <a:r>
              <a:rPr lang="it-IT" sz="1400" dirty="0"/>
              <a:t> </a:t>
            </a:r>
            <a:r>
              <a:rPr lang="it-IT" sz="1400" dirty="0" err="1"/>
              <a:t>mechanisms</a:t>
            </a:r>
            <a:r>
              <a:rPr lang="it-IT" sz="1400" dirty="0"/>
              <a:t> to </a:t>
            </a:r>
            <a:r>
              <a:rPr lang="it-IT" sz="1400" dirty="0" err="1"/>
              <a:t>preserve</a:t>
            </a:r>
            <a:r>
              <a:rPr lang="it-IT" sz="1400" dirty="0"/>
              <a:t> 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relevant</a:t>
            </a:r>
            <a:r>
              <a:rPr lang="it-IT" sz="1400" dirty="0"/>
              <a:t> </a:t>
            </a:r>
            <a:r>
              <a:rPr lang="it-IT" sz="1400" dirty="0" err="1"/>
              <a:t>details</a:t>
            </a:r>
            <a:r>
              <a:rPr lang="it-IT" sz="1400" dirty="0"/>
              <a:t>. The network </a:t>
            </a:r>
            <a:r>
              <a:rPr lang="it-IT" sz="1400" dirty="0" err="1"/>
              <a:t>estimates</a:t>
            </a:r>
            <a:r>
              <a:rPr lang="it-IT" sz="1400" dirty="0"/>
              <a:t> the </a:t>
            </a:r>
            <a:r>
              <a:rPr lang="it-IT" sz="1400" dirty="0" err="1"/>
              <a:t>noise</a:t>
            </a:r>
            <a:r>
              <a:rPr lang="it-IT" sz="1400" dirty="0"/>
              <a:t> </a:t>
            </a:r>
            <a:r>
              <a:rPr lang="it-IT" sz="1400" dirty="0" err="1"/>
              <a:t>present</a:t>
            </a:r>
            <a:r>
              <a:rPr lang="it-IT" sz="1400" dirty="0"/>
              <a:t> in the input image,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then</a:t>
            </a:r>
            <a:r>
              <a:rPr lang="it-IT" sz="1400" dirty="0"/>
              <a:t> </a:t>
            </a:r>
            <a:r>
              <a:rPr lang="it-IT" sz="1400" dirty="0" err="1"/>
              <a:t>subtracted</a:t>
            </a:r>
            <a:r>
              <a:rPr lang="it-IT" sz="1400" dirty="0"/>
              <a:t> from the input </a:t>
            </a:r>
            <a:r>
              <a:rPr lang="it-IT" sz="1400" dirty="0" err="1"/>
              <a:t>using</a:t>
            </a:r>
            <a:r>
              <a:rPr lang="it-IT" sz="1400" dirty="0"/>
              <a:t> a </a:t>
            </a:r>
            <a:r>
              <a:rPr lang="it-IT" sz="1400" b="1" dirty="0" err="1"/>
              <a:t>residual</a:t>
            </a:r>
            <a:r>
              <a:rPr lang="it-IT" sz="1400" b="1" dirty="0"/>
              <a:t> learning</a:t>
            </a:r>
            <a:r>
              <a:rPr lang="it-IT" sz="1400" dirty="0"/>
              <a:t> </a:t>
            </a:r>
            <a:r>
              <a:rPr lang="it-IT" sz="1400" dirty="0" err="1"/>
              <a:t>approach</a:t>
            </a:r>
            <a:r>
              <a:rPr lang="it-IT" sz="1400" dirty="0"/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14510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25607-B783-42F7-6133-CEF04911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2D5A53-3330-928F-3AAC-88693CC449F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GAN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CFB983-3450-F171-1AC8-45AA5013EB21}"/>
              </a:ext>
            </a:extLst>
          </p:cNvPr>
          <p:cNvSpPr/>
          <p:nvPr/>
        </p:nvSpPr>
        <p:spPr>
          <a:xfrm>
            <a:off x="7847044" y="2015412"/>
            <a:ext cx="3765835" cy="2668555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A7B17F-3079-4A67-647D-EBDE837C8853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ECDD48-A984-C78A-D778-23D3C66C6BCC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C01BF505-9EBB-018D-C96A-C6A134D5DCC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153687E-915E-B100-B236-9CBFAECA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3671" y="1573085"/>
            <a:ext cx="6805019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5F6733E1-35B4-D401-CD34-AC23F0D56B60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Generator network</a:t>
            </a:r>
            <a:r>
              <a:rPr lang="it-IT" sz="1400" dirty="0"/>
              <a:t> for image </a:t>
            </a:r>
            <a:r>
              <a:rPr lang="it-IT" sz="1400" dirty="0" err="1"/>
              <a:t>synthesis</a:t>
            </a:r>
            <a:r>
              <a:rPr lang="it-IT" sz="1400" dirty="0"/>
              <a:t>. A </a:t>
            </a:r>
            <a:r>
              <a:rPr lang="it-IT" sz="1400" dirty="0" err="1"/>
              <a:t>latent</a:t>
            </a:r>
            <a:r>
              <a:rPr lang="it-IT" sz="1400" dirty="0"/>
              <a:t> </a:t>
            </a:r>
            <a:r>
              <a:rPr lang="it-IT" sz="1400" dirty="0" err="1"/>
              <a:t>vector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first </a:t>
            </a:r>
            <a:r>
              <a:rPr lang="it-IT" sz="1400" dirty="0" err="1"/>
              <a:t>projected</a:t>
            </a:r>
            <a:r>
              <a:rPr lang="it-IT" sz="1400" dirty="0"/>
              <a:t> </a:t>
            </a:r>
            <a:r>
              <a:rPr lang="it-IT" sz="1400" dirty="0" err="1"/>
              <a:t>through</a:t>
            </a:r>
            <a:r>
              <a:rPr lang="it-IT" sz="1400" dirty="0"/>
              <a:t> a </a:t>
            </a:r>
            <a:r>
              <a:rPr lang="it-IT" sz="1400" dirty="0" err="1"/>
              <a:t>fully</a:t>
            </a:r>
            <a:r>
              <a:rPr lang="it-IT" sz="1400" dirty="0"/>
              <a:t> </a:t>
            </a:r>
            <a:r>
              <a:rPr lang="it-IT" sz="1400" dirty="0" err="1"/>
              <a:t>connected</a:t>
            </a:r>
            <a:r>
              <a:rPr lang="it-IT" sz="1400" dirty="0"/>
              <a:t> </a:t>
            </a:r>
            <a:r>
              <a:rPr lang="it-IT" sz="1400" dirty="0" err="1"/>
              <a:t>layer</a:t>
            </a:r>
            <a:r>
              <a:rPr lang="it-IT" sz="1400" dirty="0"/>
              <a:t> and </a:t>
            </a:r>
            <a:r>
              <a:rPr lang="it-IT" sz="1400" dirty="0" err="1"/>
              <a:t>reshaped</a:t>
            </a:r>
            <a:r>
              <a:rPr lang="it-IT" sz="1400" dirty="0"/>
              <a:t> </a:t>
            </a:r>
            <a:r>
              <a:rPr lang="it-IT" sz="1400" dirty="0" err="1"/>
              <a:t>into</a:t>
            </a:r>
            <a:r>
              <a:rPr lang="it-IT" sz="1400" dirty="0"/>
              <a:t> a low-</a:t>
            </a:r>
            <a:r>
              <a:rPr lang="it-IT" sz="1400" dirty="0" err="1"/>
              <a:t>resolution</a:t>
            </a:r>
            <a:r>
              <a:rPr lang="it-IT" sz="1400" dirty="0"/>
              <a:t> feature </a:t>
            </a:r>
            <a:r>
              <a:rPr lang="it-IT" sz="1400" dirty="0" err="1"/>
              <a:t>map</a:t>
            </a:r>
            <a:r>
              <a:rPr lang="it-IT" sz="1400" dirty="0"/>
              <a:t>. A </a:t>
            </a:r>
            <a:r>
              <a:rPr lang="it-IT" sz="1400" dirty="0" err="1"/>
              <a:t>sequence</a:t>
            </a:r>
            <a:r>
              <a:rPr lang="it-IT" sz="1400" dirty="0"/>
              <a:t> of </a:t>
            </a:r>
            <a:r>
              <a:rPr lang="it-IT" sz="1400" b="1" dirty="0" err="1"/>
              <a:t>Residual</a:t>
            </a:r>
            <a:r>
              <a:rPr lang="it-IT" sz="1400" b="1" dirty="0"/>
              <a:t> </a:t>
            </a:r>
            <a:r>
              <a:rPr lang="it-IT" sz="1400" b="1" dirty="0" err="1"/>
              <a:t>Blocks</a:t>
            </a:r>
            <a:r>
              <a:rPr lang="it-IT" sz="1400" dirty="0"/>
              <a:t> </a:t>
            </a:r>
            <a:r>
              <a:rPr lang="it-IT" sz="1400" dirty="0" err="1"/>
              <a:t>progressively</a:t>
            </a:r>
            <a:r>
              <a:rPr lang="it-IT" sz="1400" dirty="0"/>
              <a:t> </a:t>
            </a:r>
            <a:r>
              <a:rPr lang="it-IT" sz="1400" dirty="0" err="1"/>
              <a:t>refines</a:t>
            </a:r>
            <a:r>
              <a:rPr lang="it-IT" sz="1400" dirty="0"/>
              <a:t> the features </a:t>
            </a:r>
            <a:r>
              <a:rPr lang="it-IT" sz="1400" dirty="0" err="1"/>
              <a:t>while</a:t>
            </a:r>
            <a:r>
              <a:rPr lang="it-IT" sz="1400" dirty="0"/>
              <a:t> </a:t>
            </a:r>
            <a:r>
              <a:rPr lang="it-IT" sz="1400" dirty="0" err="1"/>
              <a:t>reducing</a:t>
            </a:r>
            <a:r>
              <a:rPr lang="it-IT" sz="1400" dirty="0"/>
              <a:t> the </a:t>
            </a:r>
            <a:r>
              <a:rPr lang="it-IT" sz="1400" dirty="0" err="1"/>
              <a:t>number</a:t>
            </a:r>
            <a:r>
              <a:rPr lang="it-IT" sz="1400" dirty="0"/>
              <a:t> of </a:t>
            </a:r>
            <a:r>
              <a:rPr lang="it-IT" sz="1400" dirty="0" err="1"/>
              <a:t>channels</a:t>
            </a:r>
            <a:r>
              <a:rPr lang="it-IT" sz="1400" dirty="0"/>
              <a:t>. </a:t>
            </a:r>
            <a:r>
              <a:rPr lang="it-IT" sz="1400" dirty="0" err="1"/>
              <a:t>Finally</a:t>
            </a:r>
            <a:r>
              <a:rPr lang="it-IT" sz="1400" dirty="0"/>
              <a:t>, </a:t>
            </a:r>
            <a:r>
              <a:rPr lang="it-IT" sz="1400" dirty="0" err="1"/>
              <a:t>normalization</a:t>
            </a:r>
            <a:r>
              <a:rPr lang="it-IT" sz="1400" dirty="0"/>
              <a:t>, </a:t>
            </a:r>
            <a:r>
              <a:rPr lang="it-IT" sz="1400" dirty="0" err="1"/>
              <a:t>activation</a:t>
            </a:r>
            <a:r>
              <a:rPr lang="it-IT" sz="1400" dirty="0"/>
              <a:t>, and a </a:t>
            </a:r>
            <a:r>
              <a:rPr lang="it-IT" sz="1400" b="1" dirty="0"/>
              <a:t>1×1 </a:t>
            </a:r>
            <a:r>
              <a:rPr lang="it-IT" sz="1400" b="1" dirty="0" err="1"/>
              <a:t>convolution</a:t>
            </a:r>
            <a:r>
              <a:rPr lang="it-IT" sz="1400" dirty="0"/>
              <a:t> generate the output image, with a </a:t>
            </a:r>
            <a:r>
              <a:rPr lang="it-IT" sz="1400" b="1" dirty="0" err="1"/>
              <a:t>Sigmoid</a:t>
            </a:r>
            <a:r>
              <a:rPr lang="it-IT" sz="1400" dirty="0"/>
              <a:t> </a:t>
            </a:r>
            <a:r>
              <a:rPr lang="it-IT" sz="1400" dirty="0" err="1"/>
              <a:t>activation</a:t>
            </a:r>
            <a:r>
              <a:rPr lang="it-IT" sz="1400" dirty="0"/>
              <a:t> </a:t>
            </a:r>
            <a:r>
              <a:rPr lang="it-IT" sz="1400" dirty="0" err="1"/>
              <a:t>constraining</a:t>
            </a:r>
            <a:r>
              <a:rPr lang="it-IT" sz="1400" dirty="0"/>
              <a:t> the pixel </a:t>
            </a:r>
            <a:r>
              <a:rPr lang="it-IT" sz="1400" dirty="0" err="1"/>
              <a:t>values</a:t>
            </a:r>
            <a:r>
              <a:rPr lang="it-IT" sz="1400" dirty="0"/>
              <a:t> to the [0,1] range.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749810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the Experiments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of abdominal CT slices from the Mayo low-dose CT dataset (single-channel, 256×256).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operator K, scale factor: 2, 4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noise, level σ ∈ {0.005, 0.01}, added after downscaling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degraded observations used consistently across all methods for a fair 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Grid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45487"/>
              </p:ext>
            </p:extLst>
          </p:nvPr>
        </p:nvGraphicFramePr>
        <p:xfrm>
          <a:off x="6766560" y="1920240"/>
          <a:ext cx="4663440" cy="20116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Downscale factor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level 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0.005, 0.01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 exponent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0.1, 0.4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× 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766560" y="41605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images kept separate from training and validation throughout.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F7A5BD11-005A-7FA5-85EA-6A6E87D93F5C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(U-Net)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set, and on the single reference image 0.png (Attention U-Net, 8 epochs)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0.png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33.19 dB / 0.9460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33.57 dB / 0.9487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 dB / 0.9723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39.90 dB / 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33.98 dB / 0.9199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34.25 dB / 0.9212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33.74 dB / 0.9139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dB / 0.9154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PSNR/SSIM stay close (or improve) when moving from ×2 to ×4, showing the network compensates for the coarser degradation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×2, noise 0.01 is the best result overall (39.78 dB / 0.9723) — notably higher than ×2, noise 0.005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(0.png) metrics are consistently with the test set batch average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(scale, noise) combination corresponds to an independently trained model checkpoint (4 variants).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C68A74D3-3372-B5B2-493B-81A32B0722F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6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6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33.57 dB | SSIM 0.9487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39.90 dB | SSIM 0.9734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52A16BE9-BBD3-25B1-8184-691542417FD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4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4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34.25 dB | SSIM 0.9212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34.00 dB | SSIM 0.9154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964A8F11-0F4C-8ABC-FA4A-7D38A973C5C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(Chambolle-Pock, 150 iterations, best λ = 9×10⁻²)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 dB / 0.8956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 dB / 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 dB / 0.8870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31.19 dB / 0.8882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26.85 dB / 0.7790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 dB / 0.7845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26.78 dB / 0.7725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27.06 dB / 0.7785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9×10⁻² is the best regularization weight across every scale/noise combination tested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0.4 consistently outperforms p = 0.1 (both PSNR and SSIM)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dominated by the downscale factor: ×2 reaches ~31 dB, ×4 drops to ~27 dB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noise level (0.005 vs 0.01) is comparatively small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∈ {1e-3, 8e-2, 9e-2} tested for scale ×4; λ ∈ {5e-3, 9e-2, 4e-1} for scale ×2 (test-set batch average)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A8709F8-1B28-56A8-A4C3-7C2F4067AB1A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2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950" dirty="0"/>
          </a:p>
        </p:txBody>
      </p:sp>
      <p:pic>
        <p:nvPicPr>
          <p:cNvPr id="11" name="Image 2" descr="/home/claude/work/img/SR_image_scale_2_noise_0_005_lambda_9_000000e-02_p_0_1_PSNR_31_29_SSIM_0_89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31.29 dB | SSIM 0.8937</a:t>
            </a:r>
            <a:endParaRPr lang="en-US" sz="950" dirty="0"/>
          </a:p>
        </p:txBody>
      </p:sp>
      <p:pic>
        <p:nvPicPr>
          <p:cNvPr id="14" name="Image 3" descr="/home/claude/work/img/SR_image_scale_2_noise_0_005_lambda_9_000000e-02_p_0_4_PSNR_31_53_SSIM_0_89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31.53 dB | SSIM 0.8913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2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950" dirty="0"/>
          </a:p>
        </p:txBody>
      </p:sp>
      <p:pic>
        <p:nvPicPr>
          <p:cNvPr id="24" name="Image 6" descr="/home/claude/work/img/SR_image_scale_2_noise_0_01_lambda_9_000000e-02_p_0_1_PSNR_31_08_SSIM_0_884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31.08 dB | SSIM 0.8842</a:t>
            </a:r>
            <a:endParaRPr lang="en-US" sz="950" dirty="0"/>
          </a:p>
        </p:txBody>
      </p:sp>
      <p:pic>
        <p:nvPicPr>
          <p:cNvPr id="27" name="Image 7" descr="/home/claude/work/img/SR_image_scale_2_noise_0_01_lambda_9_000000e-02_p_0_4_PSNR_31_47_SSIM_0_88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31.47 dB | SSIM 0.8874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E822C587-739B-DE24-A1B0-DC02C39F5DD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4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950" dirty="0"/>
          </a:p>
        </p:txBody>
      </p:sp>
      <p:pic>
        <p:nvPicPr>
          <p:cNvPr id="11" name="Image 2" descr="/home/claude/work/img/SR_image_scale_4_noise_0_005_lambda_9_000000e-02_p_0_1_PSNR_27_03_SSIM_0_77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27.03 dB | SSIM 0.7737</a:t>
            </a:r>
            <a:endParaRPr lang="en-US" sz="950" dirty="0"/>
          </a:p>
        </p:txBody>
      </p:sp>
      <p:pic>
        <p:nvPicPr>
          <p:cNvPr id="14" name="Image 3" descr="/home/claude/work/img/SR_image_scale_4_noise_0_005_lambda_9_000000e-02_p_0_4_PSNR_27_28_SSIM_0_77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27.28 dB | SSIM 0.7780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4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950" dirty="0"/>
          </a:p>
        </p:txBody>
      </p:sp>
      <p:pic>
        <p:nvPicPr>
          <p:cNvPr id="24" name="Image 6" descr="/home/claude/work/img/SR_image_scale_4_noise_0_01_lambda_9_000000e-02_p_0_1_PSNR_27_06_SSIM_0_77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0.7709</a:t>
            </a:r>
            <a:endParaRPr lang="en-US" sz="950" dirty="0"/>
          </a:p>
        </p:txBody>
      </p:sp>
      <p:pic>
        <p:nvPicPr>
          <p:cNvPr id="27" name="Image 7" descr="/home/claude/work/img/SR_image_scale_4_noise_0_01_lambda_9_000000e-02_p_0_4_PSNR_27_24_SSIM_0_77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27.24 dB | SSIM 0.7737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DBD61B10-B1E2-4AFB-B373-3FEF49A33E1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(latent optimization, 1000 steps, η = 1e-2)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19.70 dB / 0.5795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dB / 0.5872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19.72 dB / 0.5769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20.24 dB / 0.5909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002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86600" y="219456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the weakest method: ~20 dB PSNR vs. ~27–31 dB for TpV and ~33–40 dB for U-Net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Reconstructions are overly smooth: the generator prior recovers the overall anatomy but loses fine lung texture and detail (visible in the following slides)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insensitive to scale (×2 vs ×4) and noise level (0.005 vs 0.01): the bottleneck is the expressiveness of the frozen generator, not the degradation severity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− y||² / (2σ²) optimized the latent z of the frozen generator; K = downscaling operator matching each scale.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FFE34336-3D00-193A-B3E0-6550AD2AE7C2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Training Dynamics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/ Critic losses over 50 epochs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70408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work/img3/training_lo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5836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407408"/>
          </a:xfrm>
          <a:prstGeom prst="roundRect">
            <a:avLst>
              <a:gd name="adj" fmla="val 2791"/>
            </a:avLst>
          </a:prstGeom>
          <a:solidFill>
            <a:srgbClr val="E8F1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352044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loss starts near 2.0 and drops sharply around epoch 10–13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loss rises from a negative region and stabilizes around 1.0–1.2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losses fluctuate but remain roughly balanced after epoch ~15, indicating stable adversarial training without collapse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A3E07F2-669F-6E56-EB8C-06B636D3506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2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2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80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5DFA28-59EF-6EB9-E283-34B0967C7F7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4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4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78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8E390E9-ED10-C0F9-9482-7F676C1E2FD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Numerical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and best PSNR / SSIM per method, across all four scale/noise configurations tested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39671"/>
              </p:ext>
            </p:extLst>
          </p:nvPr>
        </p:nvGraphicFramePr>
        <p:xfrm>
          <a:off x="548639" y="1729267"/>
          <a:ext cx="7315198" cy="3531520"/>
        </p:xfrm>
        <a:graphic>
          <a:graphicData uri="http://schemas.openxmlformats.org/drawingml/2006/table">
            <a:tbl>
              <a:tblPr firstRow="1"/>
              <a:tblGrid>
                <a:gridCol w="1630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963576344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164017047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675492636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538013050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0.9460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31.19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39.78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0.8882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0.9723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0.5872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4,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33.98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0.7845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0.9199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Scale 4, Noise 0.01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33.74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20.24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0.7785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0.9139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0.5909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0722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delivers the strongest performance on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SSIM gap mirrors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any training data, TpV stays within ~6 dB of the learned U-Net, and clearly ahead of the GAN inversion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GAN+DPS is nearly insensitive to scale/noise, confirming its bottleneck is the generator’s expressiveness, not the degradation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1179" y="5051577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values use the best-performing exponent (p = 0.4); U-Net and GAN+DPS values are test-set averages as reported on the previous slides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7E1E7339-0D6B-4E6F-3B49-991D89E02A5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0.005)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/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/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/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/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/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/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σ=0.005, p = 0.4</a:t>
            </a:r>
            <a:endParaRPr lang="en-US" sz="1000" dirty="0"/>
          </a:p>
        </p:txBody>
      </p:sp>
      <p:sp>
        <p:nvSpPr>
          <p:cNvPr id="28" name="Caption"/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31.32 dB | SSIM 0.8932</a:t>
            </a:r>
            <a:endParaRPr lang="en-US" sz="1000" dirty="0"/>
          </a:p>
        </p:txBody>
      </p:sp>
      <p:sp>
        <p:nvSpPr>
          <p:cNvPr id="29" name="Header"/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/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/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3" name="Caption"/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33.19 dB | SSIM 0.9460</a:t>
            </a:r>
            <a:endParaRPr lang="en-US" sz="1000" dirty="0"/>
          </a:p>
        </p:txBody>
      </p:sp>
      <p:sp>
        <p:nvSpPr>
          <p:cNvPr id="34" name="Header"/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/>
          <p:cNvPicPr>
            <a:picLocks noChangeAspect="1"/>
          </p:cNvPicPr>
          <p:nvPr/>
        </p:nvPicPr>
        <p:blipFill>
          <a:blip r:embed="rId5"/>
          <a:srcRect l="67849" t="12017" r="1534" b="11753"/>
          <a:stretch>
            <a:fillRect/>
          </a:stretch>
        </p:blipFill>
        <p:spPr>
          <a:xfrm>
            <a:off x="8928416" y="2316263"/>
            <a:ext cx="2480000" cy="2465000"/>
          </a:xfrm>
          <a:prstGeom prst="rect">
            <a:avLst/>
          </a:prstGeom>
        </p:spPr>
      </p:pic>
      <p:sp>
        <p:nvSpPr>
          <p:cNvPr id="36" name="Border"/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/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8" name="Caption"/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19.70 dB | SSIM 0.5795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1A6169A0-AB0B-9370-CCAA-F5332018856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1ABEF-DD12-C80E-520B-D1AA76D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FFEBE4F-7027-BE2D-9E35-982C498BD50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D2F2-F792-42A5-EE67-C4859A871A23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93522E0F-7309-2717-34DC-009FC2FE1EC3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6CA287B7-BF77-816D-B7DC-CF575766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38534B37-F6FC-38A7-06A6-E62BA0623194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6FF69C5D-D0D1-776D-A613-563193308040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6655BDEC-6F9A-D6BC-D6C9-74931B77FAC3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12A182C1-FF4C-1FDC-EF12-E8BCFBFB4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5A3C1ABA-56A4-62BD-B407-D3FFD6A260A0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47C0EFA9-7B7E-93FE-F069-B00FC807411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C5532E3D-EE78-D0BC-2E54-A07CD8F09D51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31.19 dB | SSIM 0.8882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5B5079FB-6E30-84FF-85DF-1D03203F00D2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B2948EE0-3AD2-379F-F1A2-E39F3BCFCF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5E3687DA-2FA4-8B5A-B583-415A7CF27409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DDAF7DE-B393-B9B6-BFB3-5BC6D60C4635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274D512A-C058-7FA9-06C1-D58040204E2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39.78 dB | SSIM 0.9723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B1EEAF32-3585-AA76-6259-42542B1DAC98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CBA95FB4-487B-D504-964A-8CDD0B7E3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38" t="12293" r="1453" b="11865"/>
          <a:stretch>
            <a:fillRect/>
          </a:stretch>
        </p:blipFill>
        <p:spPr>
          <a:xfrm>
            <a:off x="8928416" y="2301263"/>
            <a:ext cx="2480001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EEDCB15A-4AC7-CAEC-37B7-85ABD618959D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1356C7AC-3FCB-1F54-0B6C-639D244D97DD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AA4AC25-8840-7422-CAFC-B240DA40DAE1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20.00 dB | SSIM 0.5872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C52DB5C-2F2F-1646-D120-ECE1B64D93B6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A91C400-E7D1-FA8C-85CA-E38976BC57B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4385E85F-64ED-6640-FFD4-57A05795B53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700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D7AC0-D0E6-6400-024D-8840A535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3C9E29-B7FF-DEF1-0963-6AA125C052B2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0.005)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91BEEB-DDFA-11B1-2423-0FAFB155DCBB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6C7FF56-337A-9909-06F0-CB1452016A98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B9B12B52-502F-3CEE-261D-8B80246AD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0EF06025-0F2C-8FA8-79E2-43D0AC53C9E1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5DFFDD3D-A774-7005-DA1D-EFC3CF9F2298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B1F41BE1-6283-6387-7E9A-25A2A3514DE6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E7AA18C9-D885-E1FE-1B20-9ABEA7E6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07A0BA9A-8DEB-4F9B-AA5E-7109AD393D2E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127A5203-F4CB-7BFC-8F9C-4E1F3130C40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42DC0E30-944D-16E0-10E0-30E1A0C38CB5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27.13 dB | SSIM 0.7845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B5B3171C-FA52-72AA-6916-C2D703D3850C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664FE40F-F0EC-2055-6758-83E06131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3C03CE5-1AC4-49F1-DC9B-4371FDB49A31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E48D886-23C3-4D3F-CCA3-996D44A06CC0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9D26C575-2205-70DA-6D30-8C2D6053C1D0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33.98 dB | SSIM 0.9199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10C03A92-EAA7-2E22-9F58-83BD3BC70A5B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6FF7CCF5-975C-8368-EC61-CE1B70ACA6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044" t="12085" r="1176" b="12845"/>
          <a:stretch>
            <a:fillRect/>
          </a:stretch>
        </p:blipFill>
        <p:spPr>
          <a:xfrm>
            <a:off x="8928415" y="2311127"/>
            <a:ext cx="2480001" cy="2470136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CDB0C3D1-F57E-A4C6-547E-F2E4E6AD9D2B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823E23A2-E5B9-92A9-81BB-8A686AC2AC90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DFDFAE5D-58BF-117B-4A87-EA54115B2B6F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19.72 dB | SSIM 0.5769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5DB17BA-E950-CA3B-CF07-DB4A25ED4285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57070C5-4C74-792B-2B07-201CAF635D4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62277EB1-3F26-5975-DFDB-AF013C655ED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27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0AEEF-950B-9B28-58C1-F10ECA621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61FCC4-EFD1-7754-4FBB-5F4874493A57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EA0D22-81D3-4D00-954A-74DE1C2C8342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7B1BE54-5BA6-D4FD-5B80-A794AE08122F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EB9C5D85-632D-BA93-D053-FCA28E37D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84034885-4FB0-7614-97DB-8212C4B9140A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17FCC353-087C-B287-FEA7-4539F69315E9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9CE6CF8C-6066-E10C-70D2-DDACF6779888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D6A98052-6160-C703-B8F5-1BDC3D641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8DD9F217-A5DA-7AFC-CAA1-C00CE9EA0522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F8E87546-7FD5-584A-A7CF-0BBE2ED172F5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08878777-5286-2293-9234-921E221BB336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0.7785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EB455CC6-E10E-07B5-2533-E913D2C1EEF9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E54AD4B6-3EA6-3342-890E-41A428F5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85C2D6F-9634-3C87-84EC-38B3FAC0743C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C0017F59-8BC9-1DD4-4D42-077C65AB45AA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D8CEBDDD-998E-0708-A591-5C75D7AF5E1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33.74 dB | SSIM 0.9139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6F219502-503C-81EA-9E0C-5BBA1833ECA3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17A76932-F8CE-9857-94A4-3015BF54E84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20" t="12315" r="1245" b="12642"/>
          <a:stretch>
            <a:fillRect/>
          </a:stretch>
        </p:blipFill>
        <p:spPr>
          <a:xfrm>
            <a:off x="8941209" y="2301263"/>
            <a:ext cx="2467207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11071E52-9073-277C-F8AB-C8D1D0AEA189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F7FB797C-AB90-B697-8A2D-0831913FE5AA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94AA6DD-859E-F5A3-38A3-5B96E6A09A8B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20.24 dB | SSIM 0.5909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B4A5E5-D501-A3F6-E164-DA2693DD7FA8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92F34F-FA4B-2FCF-751E-DF27188844AA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BABEF0A8-5EA1-4ED3-CE6A-BD6352C280C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44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1F8CE4D6-E6C4-1580-9624-DB3E2B9D5886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4E17159-8710-3C1D-2E5F-6BBE96E595CE}"/>
              </a:ext>
            </a:extLst>
          </p:cNvPr>
          <p:cNvSpPr/>
          <p:nvPr/>
        </p:nvSpPr>
        <p:spPr>
          <a:xfrm>
            <a:off x="1124992" y="1727825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U-Net (End-to-End) </a:t>
            </a:r>
            <a:r>
              <a:rPr lang="it-IT" dirty="0" err="1"/>
              <a:t>is</a:t>
            </a:r>
            <a:r>
              <a:rPr lang="it-IT" dirty="0"/>
              <a:t> the best-</a:t>
            </a:r>
            <a:r>
              <a:rPr lang="it-IT" dirty="0" err="1"/>
              <a:t>performing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overall: PSNR </a:t>
            </a:r>
            <a:r>
              <a:rPr lang="it-IT" dirty="0" err="1"/>
              <a:t>ranging</a:t>
            </a:r>
            <a:r>
              <a:rPr lang="it-IT" dirty="0"/>
              <a:t> from 33 dB to </a:t>
            </a:r>
            <a:r>
              <a:rPr lang="it-IT" dirty="0" err="1"/>
              <a:t>nearly</a:t>
            </a:r>
            <a:r>
              <a:rPr lang="it-IT" dirty="0"/>
              <a:t> 40 dB, with SSIM </a:t>
            </a:r>
            <a:r>
              <a:rPr lang="it-IT" dirty="0" err="1"/>
              <a:t>consistently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0.91 — </a:t>
            </a:r>
            <a:r>
              <a:rPr lang="it-IT" dirty="0" err="1"/>
              <a:t>clearly</a:t>
            </a:r>
            <a:r>
              <a:rPr lang="it-IT" dirty="0"/>
              <a:t> </a:t>
            </a:r>
            <a:r>
              <a:rPr lang="it-IT" dirty="0" err="1"/>
              <a:t>outperforming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in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7421D32-D4CC-321E-320D-8FF93EFCE6A5}"/>
              </a:ext>
            </a:extLst>
          </p:cNvPr>
          <p:cNvSpPr/>
          <p:nvPr/>
        </p:nvSpPr>
        <p:spPr>
          <a:xfrm>
            <a:off x="1138708" y="2979993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TpV</a:t>
            </a:r>
            <a:r>
              <a:rPr lang="it-IT" dirty="0"/>
              <a:t> (</a:t>
            </a:r>
            <a:r>
              <a:rPr lang="it-IT" dirty="0" err="1"/>
              <a:t>Variational</a:t>
            </a:r>
            <a:r>
              <a:rPr lang="it-IT" dirty="0"/>
              <a:t>)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runner-up: </a:t>
            </a:r>
            <a:r>
              <a:rPr lang="it-IT" dirty="0" err="1"/>
              <a:t>it</a:t>
            </a:r>
            <a:r>
              <a:rPr lang="it-IT" dirty="0"/>
              <a:t> stays </a:t>
            </a:r>
            <a:r>
              <a:rPr lang="it-IT" dirty="0" err="1"/>
              <a:t>within</a:t>
            </a:r>
            <a:r>
              <a:rPr lang="it-IT" dirty="0"/>
              <a:t> ~6 dB of U-Net </a:t>
            </a:r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no training data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— a </a:t>
            </a:r>
            <a:r>
              <a:rPr lang="it-IT" dirty="0" err="1"/>
              <a:t>notable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for a </a:t>
            </a:r>
            <a:r>
              <a:rPr lang="it-IT" dirty="0" err="1"/>
              <a:t>purely</a:t>
            </a:r>
            <a:r>
              <a:rPr lang="it-IT" dirty="0"/>
              <a:t> model-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.</a:t>
            </a:r>
          </a:p>
          <a:p>
            <a:pPr algn="ctr"/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0439CA0-0C43-6862-BE2C-F4F6CD836D58}"/>
              </a:ext>
            </a:extLst>
          </p:cNvPr>
          <p:cNvSpPr/>
          <p:nvPr/>
        </p:nvSpPr>
        <p:spPr>
          <a:xfrm>
            <a:off x="1124992" y="4236788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GAN + DPS (Generative)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weakest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(~20 dB PSNR), </a:t>
            </a:r>
            <a:r>
              <a:rPr lang="it-IT" dirty="0" err="1"/>
              <a:t>producing</a:t>
            </a:r>
            <a:r>
              <a:rPr lang="it-IT" dirty="0"/>
              <a:t> </a:t>
            </a:r>
            <a:r>
              <a:rPr lang="it-IT" dirty="0" err="1"/>
              <a:t>overly</a:t>
            </a:r>
            <a:r>
              <a:rPr lang="it-IT" dirty="0"/>
              <a:t> </a:t>
            </a:r>
            <a:r>
              <a:rPr lang="it-IT" dirty="0" err="1"/>
              <a:t>smooth</a:t>
            </a:r>
            <a:r>
              <a:rPr lang="it-IT" dirty="0"/>
              <a:t> </a:t>
            </a:r>
            <a:r>
              <a:rPr lang="it-IT" dirty="0" err="1"/>
              <a:t>reconstructions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lose</a:t>
            </a:r>
            <a:r>
              <a:rPr lang="it-IT" dirty="0"/>
              <a:t> fine texture </a:t>
            </a:r>
            <a:r>
              <a:rPr lang="it-IT" dirty="0" err="1"/>
              <a:t>detail</a:t>
            </a:r>
            <a:r>
              <a:rPr lang="it-IT" dirty="0"/>
              <a:t>: the </a:t>
            </a:r>
            <a:r>
              <a:rPr lang="it-IT" dirty="0" err="1"/>
              <a:t>bottleneck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expressiveness</a:t>
            </a:r>
            <a:r>
              <a:rPr lang="it-IT" dirty="0"/>
              <a:t> of the </a:t>
            </a:r>
            <a:r>
              <a:rPr lang="it-IT" dirty="0" err="1"/>
              <a:t>frozen</a:t>
            </a:r>
            <a:r>
              <a:rPr lang="it-IT" dirty="0"/>
              <a:t> generator,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severity</a:t>
            </a:r>
            <a:r>
              <a:rPr lang="it-IT" dirty="0"/>
              <a:t> of the </a:t>
            </a:r>
            <a:r>
              <a:rPr lang="it-IT" dirty="0" err="1"/>
              <a:t>degradation</a:t>
            </a:r>
            <a:r>
              <a:rPr lang="it-IT" dirty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references used for the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3F5CF034-406E-2263-4B8F-9C4F4343E40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2495</Words>
  <Application>Microsoft Office PowerPoint</Application>
  <PresentationFormat>Widescreen</PresentationFormat>
  <Paragraphs>388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Century Gothic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Super-Resolution of CT Images - Computational Imaging Project</dc:title>
  <dc:subject>PptxGenJS Presentation</dc:subject>
  <dc:creator>Group H</dc:creator>
  <cp:lastModifiedBy>PIETRO CIMINO</cp:lastModifiedBy>
  <cp:revision>8</cp:revision>
  <dcterms:created xsi:type="dcterms:W3CDTF">2026-07-08T20:35:29Z</dcterms:created>
  <dcterms:modified xsi:type="dcterms:W3CDTF">2026-07-11T09:09:47Z</dcterms:modified>
</cp:coreProperties>
</file>